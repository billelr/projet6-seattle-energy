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 · DATA ENGINEER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 la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d'énergie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bâtiments non résidentiels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ML supervisée — Données 2016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Data Engineer · OpenClassrooms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6291072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prédire SiteEnergyUseWN(kBtu) à partir des caractéristiques structurelles des bâtiments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jeu de données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5303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 de Seattle : objectif zéro carbone en 2050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Relevés de consommation coûteux à collecter sur le terrain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énergie &amp; CO₂ des bâtiments non mesurés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d'entrée : caractéristiques structurelles uniquement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Seattle Open Data Portal — Benchmarking 2016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760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18872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618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3 376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bâtiments au total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377440"/>
            <a:ext cx="5760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237744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450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29260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bâtiments NonResidential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566160"/>
            <a:ext cx="5760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56616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6393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1 419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41148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bâtiments après nettoyage complet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754880"/>
            <a:ext cx="57607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4754880"/>
            <a:ext cx="73152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8280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09360" y="53035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disponibles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&amp; nettoyage — 3 filtres appliqués par le tuteur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7490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5303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37490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1 — BuildingType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474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uniquement les bâtiments NonResidential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1 460 → 1 460 bâtiments retenus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Hôtels, bureaux, commerces, écoles…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Résidences, appartements exclus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097280"/>
            <a:ext cx="37490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097280"/>
            <a:ext cx="73152" cy="5303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097280"/>
            <a:ext cx="37490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1612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2 — Outlier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783080"/>
            <a:ext cx="3474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identifiée par les agents de la ville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= bâtiment normal → garder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'Low outlier' / 'High outlier' → supprimer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1 460 → 1 445 bâtiments retenus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097280"/>
            <a:ext cx="37490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97280"/>
            <a:ext cx="73152" cy="5303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097280"/>
            <a:ext cx="37490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1612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3 — ComplianceStatus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1783080"/>
            <a:ext cx="3474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uniquement les bâtiments 'Compliant'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Non-Compliant / Missing Data / Error → exclus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non conformes = peu fiables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1 445 → 1 432 bâtiments retenus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final : 1 419 bâtiments après IQR outliers sur la target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la target : SiteEnergyUseWN(kBtu)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94960" cy="5212080"/>
          </a:xfrm>
          <a:prstGeom prst="rect">
            <a:avLst/>
          </a:prstGeom>
          <a:solidFill>
            <a:srgbClr val="FFF0F0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394960" cy="54864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6128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SiteEnergyUse(kBtu) — SUPPRIMÉE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brute non normalisée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des conditions météo annuelles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représentative des caractéristiques structurelles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Remplacée par la version WN dans toute l'analyse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1097280"/>
            <a:ext cx="5394960" cy="5212080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097280"/>
            <a:ext cx="539496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16128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SiteEnergyUseWN(kBtu) — RETENUE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178308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Normalized = normalisée par rapport aux conditions météo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représentative des caractéristiques structurelles du bâtiment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Neutralise l'effet des variations climatiques annuelles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Recommandée pour modéliser l'efficacité structurelle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41848" y="3108960"/>
            <a:ext cx="914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log appliquée pour normaliser la distribution asymétrique → log(SiteEnergyUseWN)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— insights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7490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5303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374904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61288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des données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4747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filtres appliqués : BuildingType, Outlier, ComplianceStatus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&gt;90% NaN supprimées (Comments, YearsENERGYSTARCertified…)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évité : kBtu détaillés, EUI, GHGIntensity exclus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ENERGYSTARScore : imputation par la médiane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097280"/>
            <a:ext cx="37490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097280"/>
            <a:ext cx="73152" cy="5303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097280"/>
            <a:ext cx="37490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161288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 la target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1719072"/>
            <a:ext cx="34747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SiteEnergyUseWN très asymétrique (longue queue droite)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log appliquée → distribution quasi-normale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IQR (5%–95%) supprimés sur la target transformée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1 419 bâtiments retenus pour la modélisation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097280"/>
            <a:ext cx="374904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097280"/>
            <a:ext cx="73152" cy="5303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097280"/>
            <a:ext cx="37490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161288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Tendances observées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1719072"/>
            <a:ext cx="347472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= corrélat le plus fort avec la consommation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Hôtels &amp; hôpitaux : consommation médiane la plus haute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Bâtiments avant 1960 : +30% vs bâtiments récents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Bâtiments multi-usage : comportement distinct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3 groupes de features créées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749040" cy="548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612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Temporalité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374904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783080"/>
            <a:ext cx="347472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30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2016 − YearBuilt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697480"/>
            <a:ext cx="347472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43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EraConstruction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tranches (avant 1930 → après 2010)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4754880"/>
            <a:ext cx="3474720" cy="1508760"/>
          </a:xfrm>
          <a:prstGeom prst="rect">
            <a:avLst/>
          </a:prstGeom>
          <a:solidFill>
            <a:srgbClr val="F0F8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828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5084064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bâtiments anciens ont une isolation et des équipements moins performants → plus forte consommation.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1097280"/>
            <a:ext cx="37490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11612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51960" y="1645920"/>
            <a:ext cx="374904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783080"/>
            <a:ext cx="347472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8288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GFAPerFloor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2130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Surface totale / NbÉtages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2697480"/>
            <a:ext cx="347472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743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ParkingRatio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Surface parking / Surface totale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347472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6576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MainUseRatio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Surface usage principal / Totale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4754880"/>
            <a:ext cx="3474720" cy="1508760"/>
          </a:xfrm>
          <a:prstGeom prst="rect">
            <a:avLst/>
          </a:prstGeom>
          <a:solidFill>
            <a:srgbClr val="F0F8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828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5084064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morphologie du bâtiment influence les déperditions thermiques et la consommation énergétique.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1097280"/>
            <a:ext cx="374904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11612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Multi-usage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229600" y="1645920"/>
            <a:ext cx="374904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1783080"/>
            <a:ext cx="347472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18288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HasSecondUse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58200" y="2130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 (0/1) — 2e usage présent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66760" y="2697480"/>
            <a:ext cx="3474720" cy="731520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27432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HasThirdUse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58200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 (0/1) — 3e usage présent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66760" y="4754880"/>
            <a:ext cx="3474720" cy="1508760"/>
          </a:xfrm>
          <a:prstGeom prst="rect">
            <a:avLst/>
          </a:prstGeom>
          <a:solidFill>
            <a:srgbClr val="F0F8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58200" y="4828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métier 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58200" y="5084064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Indiquer la diversité d'usage sans créer de data leakage (infos structurelles uniquement).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nouvelles features créées — aucun data leakage (infos structurelles uniquement)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features &amp; création du DataFrame de modélisation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48640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5303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prétraitement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007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filtres appliqués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86537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Outlier, ComplianceStatus, NonResidential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41448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4505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outliers IQR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61518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5%–95% sur log(target) — équilibre qualité/quantité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91256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200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corrélation Pearson + Spearman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36499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PropertyGFATotal supprimé (colinéaire avec GFAPerFloor)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941064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41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950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11480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des 12 features numériques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690872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690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7000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(max_categories=12)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86460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l'explosion dimensionnelle sur LargestPropertyUseType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5440680"/>
            <a:ext cx="34747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5440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54498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80/20 (random_state=42)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" y="561441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garantie — 1 135 train / 284 test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097280"/>
            <a:ext cx="566928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097280"/>
            <a:ext cx="73152" cy="5303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de modélisation (df_model)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0" y="1691640"/>
            <a:ext cx="1504188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1691640"/>
            <a:ext cx="1504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NumberofBuildings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78140" y="1691640"/>
            <a:ext cx="1271016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78140" y="169164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NumberofFloors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322308" y="1691640"/>
            <a:ext cx="1348740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2308" y="1691640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ENERGYSTARScore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0" y="2039112"/>
            <a:ext cx="1037844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039112"/>
            <a:ext cx="103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BuildingAge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11796" y="2039112"/>
            <a:ext cx="1115568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11796" y="203911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ParkingRatio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700516" y="2039112"/>
            <a:ext cx="1037844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00516" y="2039112"/>
            <a:ext cx="103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GFAPerFloor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811512" y="2039112"/>
            <a:ext cx="1115568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11512" y="203911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MainUseRatio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0" y="2386584"/>
            <a:ext cx="1115568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238658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HasSecondUse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589520" y="2386584"/>
            <a:ext cx="1037844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2386584"/>
            <a:ext cx="103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HasThirdUse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700516" y="2386584"/>
            <a:ext cx="804672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00516" y="23865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578340" y="2386584"/>
            <a:ext cx="882396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78340" y="2386584"/>
            <a:ext cx="882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00800" y="2734056"/>
            <a:ext cx="1659636" cy="274320"/>
          </a:xfrm>
          <a:prstGeom prst="rect">
            <a:avLst/>
          </a:prstGeom>
          <a:solidFill>
            <a:srgbClr val="E8F4F8"/>
          </a:solidFill>
          <a:ln w="6350">
            <a:solidFill>
              <a:srgbClr val="B0D4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2734056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CouncilDistrictCode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00800" y="3145536"/>
            <a:ext cx="2560320" cy="274320"/>
          </a:xfrm>
          <a:prstGeom prst="rect">
            <a:avLst/>
          </a:prstGeom>
          <a:solidFill>
            <a:srgbClr val="E1F5EE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31455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LargestPropertyUseType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00800" y="3493008"/>
            <a:ext cx="2560320" cy="274320"/>
          </a:xfrm>
          <a:prstGeom prst="rect">
            <a:avLst/>
          </a:prstGeom>
          <a:solidFill>
            <a:srgbClr val="E1F5EE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3493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EraConstruction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400800" y="4572000"/>
            <a:ext cx="5303520" cy="164592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92240" y="46451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: log(SiteEnergyUseWN(kBtu))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492240" y="498348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log pour normaliser la distribution asymétrique de la consommation énergétique.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4 modèles — validation croisée 5 folds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0662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097280"/>
            <a:ext cx="151790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0972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CV (moy)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151790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97280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CV (std)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142646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97280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1097280"/>
            <a:ext cx="147218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09728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98280" y="1097280"/>
            <a:ext cx="1472184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09728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1627632"/>
            <a:ext cx="270662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27632"/>
            <a:ext cx="2706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(baseline)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017520" y="1627632"/>
            <a:ext cx="151790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62763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627632"/>
            <a:ext cx="151790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627632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627632"/>
            <a:ext cx="142646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627632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1627632"/>
            <a:ext cx="147218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627632"/>
            <a:ext cx="1472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98280" y="1627632"/>
            <a:ext cx="147218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1627632"/>
            <a:ext cx="1472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249424"/>
            <a:ext cx="2706624" cy="585216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249424"/>
            <a:ext cx="2706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017520" y="2249424"/>
            <a:ext cx="1517904" cy="585216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224942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0.62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2249424"/>
            <a:ext cx="1517904" cy="585216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249424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26480" y="2249424"/>
            <a:ext cx="1426464" cy="585216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249424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0.61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2249424"/>
            <a:ext cx="1472184" cy="585216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2249424"/>
            <a:ext cx="1472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098280" y="2249424"/>
            <a:ext cx="1472184" cy="585216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98280" y="2249424"/>
            <a:ext cx="1472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2871216"/>
            <a:ext cx="270662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2871216"/>
            <a:ext cx="2706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(RBF)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017520" y="2871216"/>
            <a:ext cx="151790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2871216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0.73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0" y="2871216"/>
            <a:ext cx="151790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2871216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26480" y="2871216"/>
            <a:ext cx="142646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2871216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0.71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589520" y="2871216"/>
            <a:ext cx="147218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2871216"/>
            <a:ext cx="1472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~0.43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098280" y="2871216"/>
            <a:ext cx="1472184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8280" y="2871216"/>
            <a:ext cx="1472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74320" y="3493008"/>
            <a:ext cx="2706624" cy="585216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3493008"/>
            <a:ext cx="2706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✓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017520" y="3493008"/>
            <a:ext cx="1517904" cy="585216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017520" y="3493008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0.85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572000" y="3493008"/>
            <a:ext cx="1517904" cy="585216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3493008"/>
            <a:ext cx="1517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±0.03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126480" y="3493008"/>
            <a:ext cx="1426464" cy="585216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26480" y="3493008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0.85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589520" y="3493008"/>
            <a:ext cx="1472184" cy="585216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89520" y="3493008"/>
            <a:ext cx="1472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~0.30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9098280" y="3493008"/>
            <a:ext cx="1472184" cy="585216"/>
          </a:xfrm>
          <a:prstGeom prst="rect">
            <a:avLst/>
          </a:prstGeom>
          <a:solidFill>
            <a:srgbClr val="D5EEF7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98280" y="3493008"/>
            <a:ext cx="14721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~0.45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74320" y="4224528"/>
            <a:ext cx="116128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4389120"/>
            <a:ext cx="28346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74320" y="4389120"/>
            <a:ext cx="73152" cy="2194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38912" y="4809744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Plancher de référence. R²=0 attendu.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64408" y="4389120"/>
            <a:ext cx="28346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264408" y="4389120"/>
            <a:ext cx="73152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29000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3429000" y="4809744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les grandes tendances. Limitée sur les non-linéarités.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254496" y="4389120"/>
            <a:ext cx="28346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54496" y="4389120"/>
            <a:ext cx="73152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19088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19088" y="4809744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grâce au noyau RBF. Sensible au scaling.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9244584" y="4389120"/>
            <a:ext cx="283464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44584" y="4389120"/>
            <a:ext cx="73152" cy="2194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409176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✓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9409176" y="4809744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R² et std faible → robuste. Retenu 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— GridSearchCV sur Random Forest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5303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recherche (54 combinaisons)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5029200" cy="713232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92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792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[100, 200, 300]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792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d'arbres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23744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96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77440" y="2596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[10, 20, None]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5968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maximale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328416"/>
            <a:ext cx="5029200" cy="713232"/>
          </a:xfrm>
          <a:prstGeom prst="rect">
            <a:avLst/>
          </a:prstGeom>
          <a:solidFill>
            <a:srgbClr val="E8F4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10]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échantillons/split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133088"/>
            <a:ext cx="5029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['sqrt', 0.5]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par nœud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5074920"/>
            <a:ext cx="5029200" cy="50292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5120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3×3×3×2 = 54 combinaisons × 5 folds = 270 fits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097280"/>
            <a:ext cx="5760720" cy="1097280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17043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58952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17556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de la variance expliquée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331720"/>
            <a:ext cx="5760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40487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589520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Test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299008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moy. ±0.30 log — ±~35% brut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3566160"/>
            <a:ext cx="5760720" cy="1097280"/>
          </a:xfrm>
          <a:prstGeom prst="rect">
            <a:avLst/>
          </a:prstGeom>
          <a:solidFill>
            <a:srgbClr val="E8F4F8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63931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~0.45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7589520" y="3639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63640" y="42245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les grandes erreurs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4800600"/>
            <a:ext cx="57607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487375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~0.90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7589520" y="4873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63640" y="54589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 modéré contrôlé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6080760"/>
            <a:ext cx="5760720" cy="59436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61447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se trompe de ±35% sur la valeur brute → acceptable pour prioriser les audits énergétiques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quelles variables influencent le modèle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5029200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1143000"/>
            <a:ext cx="0" cy="438912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GFAPerFloor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12161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80760" y="12161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par étage — taille &amp; densité du bâtiment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2920181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94501" y="1737360"/>
            <a:ext cx="2109019" cy="438912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10512"/>
            <a:ext cx="28287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ENERGYSTARScore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8105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18105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Efficacité énergétique certifiée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2271252" cy="43891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45572" y="2331720"/>
            <a:ext cx="2757948" cy="438912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04872"/>
            <a:ext cx="2179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24048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24048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Ancienneté = isolation et équipements moins performants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1460090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4410" y="2926080"/>
            <a:ext cx="3569110" cy="438912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999232"/>
            <a:ext cx="1368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MainUseRatio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9992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29992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de l'usage principal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973394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47714" y="3520440"/>
            <a:ext cx="4055806" cy="438912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93592"/>
            <a:ext cx="8819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NumberofFloors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35935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35935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d'étages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648929" cy="438912"/>
          </a:xfrm>
          <a:prstGeom prst="rect">
            <a:avLst/>
          </a:prstGeom>
          <a:solidFill>
            <a:srgbClr val="5BA4C8"/>
          </a:solidFill>
          <a:ln w="12700">
            <a:solidFill>
              <a:srgbClr val="5BA4C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249" y="4114800"/>
            <a:ext cx="4380271" cy="438912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1879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ParkingRatio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41879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418795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la surface de parking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709160"/>
            <a:ext cx="648929" cy="438912"/>
          </a:xfrm>
          <a:prstGeom prst="rect">
            <a:avLst/>
          </a:prstGeom>
          <a:solidFill>
            <a:srgbClr val="5BA4C8"/>
          </a:solidFill>
          <a:ln w="12700">
            <a:solidFill>
              <a:srgbClr val="5BA4C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3249" y="4709160"/>
            <a:ext cx="4380271" cy="438912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7823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CouncilDistrictCode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47823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80760" y="47823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par arrondissement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5303520"/>
            <a:ext cx="486697" cy="438912"/>
          </a:xfrm>
          <a:prstGeom prst="rect">
            <a:avLst/>
          </a:prstGeom>
          <a:solidFill>
            <a:srgbClr val="5BA4C8"/>
          </a:solidFill>
          <a:ln w="12700">
            <a:solidFill>
              <a:srgbClr val="5BA4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1017" y="5303520"/>
            <a:ext cx="4542503" cy="438912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5376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0" y="53766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80760" y="53766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géographique est-ouest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5897880"/>
            <a:ext cx="324465" cy="438912"/>
          </a:xfrm>
          <a:prstGeom prst="rect">
            <a:avLst/>
          </a:prstGeom>
          <a:solidFill>
            <a:srgbClr val="5BA4C8"/>
          </a:solidFill>
          <a:ln w="12700">
            <a:solidFill>
              <a:srgbClr val="5BA4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8785" y="5897880"/>
            <a:ext cx="4704735" cy="438912"/>
          </a:xfrm>
          <a:prstGeom prst="rect">
            <a:avLst/>
          </a:prstGeom>
          <a:solidFill>
            <a:srgbClr val="E8F2F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5971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HasSecondUse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86400" y="59710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080760" y="59710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multi-usage binaire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" y="6492240"/>
            <a:ext cx="201168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6492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(63%)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834640" y="6492240"/>
            <a:ext cx="201168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90672" y="6492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394960" y="6492240"/>
            <a:ext cx="201168" cy="201168"/>
          </a:xfrm>
          <a:prstGeom prst="rect">
            <a:avLst/>
          </a:prstGeom>
          <a:solidFill>
            <a:srgbClr val="5BA4C8"/>
          </a:solidFill>
          <a:ln w="12700">
            <a:solidFill>
              <a:srgbClr val="5BA4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50992" y="6492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Mineures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749040" cy="4572000"/>
          </a:xfrm>
          <a:prstGeom prst="rect">
            <a:avLst/>
          </a:prstGeom>
          <a:solidFill>
            <a:srgbClr val="0D3D55"/>
          </a:solidFill>
          <a:ln w="6350">
            <a:solidFill>
              <a:srgbClr val="1A5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374904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06424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accompli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3474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filtres : NonResidential, Outlier, Compliant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WN normalisée météo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nouvelles features (3 groupes)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 comparés — cross_validate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optimisé : R²≈0.85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051560"/>
            <a:ext cx="3749040" cy="4572000"/>
          </a:xfrm>
          <a:prstGeom prst="rect">
            <a:avLst/>
          </a:prstGeom>
          <a:solidFill>
            <a:srgbClr val="0D3D55"/>
          </a:solidFill>
          <a:ln w="6350">
            <a:solidFill>
              <a:srgbClr val="1A50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051560"/>
            <a:ext cx="374904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106424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clés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1664208"/>
            <a:ext cx="3474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GFAPerFloor — surface/étage (31%)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ENERGYSTARScore — efficacité (18%)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BuildingAge — ancienneté (14%)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63% expliqués par 3 features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Résultat cohérent avec l'EDA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051560"/>
            <a:ext cx="3749040" cy="4572000"/>
          </a:xfrm>
          <a:prstGeom prst="rect">
            <a:avLst/>
          </a:prstGeom>
          <a:solidFill>
            <a:srgbClr val="0D3D55"/>
          </a:solidFill>
          <a:ln w="6350">
            <a:solidFill>
              <a:srgbClr val="1A50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051560"/>
            <a:ext cx="3749040" cy="502920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106424"/>
            <a:ext cx="3474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1664208"/>
            <a:ext cx="34747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météo pour l'effet saisonnier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GradientBoosting / XGBoost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via API FastAPI (Mission 2)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aussi TotalGHGEmissions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Actualiser avec les données annuelles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589788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optimisé — R²≈0.85 sur SiteEnergyUseWN — prêt pour le déploiement via API (Mission 2)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2026-04-24T10:39:12Z</dcterms:created>
  <dcterms:modified xsi:type="dcterms:W3CDTF">2026-04-24T10:39:12Z</dcterms:modified>
</cp:coreProperties>
</file>