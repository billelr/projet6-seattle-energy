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déplacer la diapo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76AEA73-F911-4E2C-A399-4DE8135C6518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5971B7-B82A-492F-8B8A-6D69073934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6AF830-973E-4D36-90DF-0AF939BC22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E2F65B-B311-4221-B585-5292C215A0D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5E087B-D57C-4025-A8A1-07B5D7322CB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FCA09E-DBD2-405E-BCE0-E6D8D288B3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59F5D3-2528-4E15-91E8-96DB7F9509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9BC203-4CDC-49C3-ACC6-7DF9B71C305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18C72A-A956-46FD-B1F8-CFEF5A9751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DF95C9-EC6B-438F-93E0-27AF353F64D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29930B-D6D2-4B87-9E87-503EE12935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11893-D05F-4AC8-B24C-B1B944A9844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éditer le format du texte-titre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686800" y="0"/>
            <a:ext cx="3501720" cy="6857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6217920"/>
            <a:ext cx="12188520" cy="639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4864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02c39a"/>
                </a:solidFill>
                <a:latin typeface="Calibri"/>
                <a:ea typeface="Calibri"/>
              </a:rPr>
              <a:t>SEATTLE · DATA ENGINEER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48640" y="914400"/>
            <a:ext cx="77720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Prédiction de la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consommation d'énergie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des bâtiments non résidentiels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48640" y="3931920"/>
            <a:ext cx="777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add8e6"/>
                </a:solidFill>
                <a:latin typeface="Calibri"/>
                <a:ea typeface="Calibri"/>
              </a:rPr>
              <a:t>Approche ML supervisée — Données 2016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48640" y="457200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0bccc"/>
                </a:solidFill>
                <a:latin typeface="Calibri"/>
                <a:ea typeface="Calibri"/>
              </a:rPr>
              <a:t>Projet Data Engineer · OpenClassrooms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365760" y="6291000"/>
            <a:ext cx="11429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Objectif : prédire SiteEnergyUseWN(kBtu) à partir des caractéristiques structurelles des bâtiments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2188520" cy="914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36576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Contexte &amp; jeu de données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274320" y="1097280"/>
            <a:ext cx="5394600" cy="530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274320" y="1097280"/>
            <a:ext cx="72720" cy="5303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457200" y="118872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Contexte du projet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457200" y="1691640"/>
            <a:ext cx="50288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2e3b"/>
                </a:solidFill>
                <a:latin typeface="Calibri"/>
                <a:ea typeface="Calibri"/>
              </a:rPr>
              <a:t>Ville de Seattle : objectif zéro carbone en 2050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2e3b"/>
                </a:solidFill>
                <a:latin typeface="Calibri"/>
                <a:ea typeface="Calibri"/>
              </a:rPr>
              <a:t>Relevés de consommation coûteux à collecter sur le terrain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2e3b"/>
                </a:solidFill>
                <a:latin typeface="Calibri"/>
                <a:ea typeface="Calibri"/>
              </a:rPr>
              <a:t>Prédire énergie &amp; CO₂ des bâtiments non mesurés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2e3b"/>
                </a:solidFill>
                <a:latin typeface="Calibri"/>
                <a:ea typeface="Calibri"/>
              </a:rPr>
              <a:t>Variables d'entrée : caractéristiques structurelles uniquement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2e3b"/>
                </a:solidFill>
                <a:latin typeface="Calibri"/>
                <a:ea typeface="Calibri"/>
              </a:rPr>
              <a:t>Source : Seattle Open Data Portal — Benchmarking 2016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6126480" y="1188720"/>
            <a:ext cx="576036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6126480" y="1188720"/>
            <a:ext cx="72720" cy="1005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6309360" y="126180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65a82"/>
                </a:solidFill>
                <a:latin typeface="Calibri"/>
                <a:ea typeface="Calibri"/>
              </a:rPr>
              <a:t>3 376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6309360" y="173736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a7a8a"/>
                </a:solidFill>
                <a:latin typeface="Calibri"/>
                <a:ea typeface="Calibri"/>
              </a:rPr>
              <a:t>bâtiments au total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6126480" y="2377440"/>
            <a:ext cx="576036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1"/>
          <p:cNvSpPr/>
          <p:nvPr/>
        </p:nvSpPr>
        <p:spPr>
          <a:xfrm>
            <a:off x="6126480" y="2377440"/>
            <a:ext cx="72720" cy="1005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6309360" y="245052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65a82"/>
                </a:solidFill>
                <a:latin typeface="Calibri"/>
                <a:ea typeface="Calibri"/>
              </a:rPr>
              <a:t>1 460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6309360" y="292608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a7a8a"/>
                </a:solidFill>
                <a:latin typeface="Calibri"/>
                <a:ea typeface="Calibri"/>
              </a:rPr>
              <a:t>bâtiments NonResidential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4"/>
          <p:cNvSpPr/>
          <p:nvPr/>
        </p:nvSpPr>
        <p:spPr>
          <a:xfrm>
            <a:off x="6126480" y="3566160"/>
            <a:ext cx="576036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5"/>
          <p:cNvSpPr/>
          <p:nvPr/>
        </p:nvSpPr>
        <p:spPr>
          <a:xfrm>
            <a:off x="6126480" y="3566160"/>
            <a:ext cx="72720" cy="1005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6309360" y="363924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65a82"/>
                </a:solidFill>
                <a:latin typeface="Calibri"/>
                <a:ea typeface="Calibri"/>
              </a:rPr>
              <a:t>1 419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6309360" y="411480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a7a8a"/>
                </a:solidFill>
                <a:latin typeface="Calibri"/>
                <a:ea typeface="Calibri"/>
              </a:rPr>
              <a:t>bâtiments après nettoyage complet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8"/>
          <p:cNvSpPr/>
          <p:nvPr/>
        </p:nvSpPr>
        <p:spPr>
          <a:xfrm>
            <a:off x="6126480" y="4754880"/>
            <a:ext cx="576036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9"/>
          <p:cNvSpPr/>
          <p:nvPr/>
        </p:nvSpPr>
        <p:spPr>
          <a:xfrm>
            <a:off x="6126480" y="4754880"/>
            <a:ext cx="72720" cy="1005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0"/>
          <p:cNvSpPr/>
          <p:nvPr/>
        </p:nvSpPr>
        <p:spPr>
          <a:xfrm>
            <a:off x="6309360" y="482796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65a82"/>
                </a:solidFill>
                <a:latin typeface="Calibri"/>
                <a:ea typeface="Calibri"/>
              </a:rPr>
              <a:t>46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21"/>
          <p:cNvSpPr/>
          <p:nvPr/>
        </p:nvSpPr>
        <p:spPr>
          <a:xfrm>
            <a:off x="6309360" y="530352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a7a8a"/>
                </a:solidFill>
                <a:latin typeface="Calibri"/>
                <a:ea typeface="Calibri"/>
              </a:rPr>
              <a:t>colonnes disponibles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0" y="0"/>
            <a:ext cx="12188520" cy="914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36576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Filtrage &amp; nettoyage — 3 filtres appliqués par le tuteur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274320" y="1097280"/>
            <a:ext cx="3748680" cy="530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274320" y="1097280"/>
            <a:ext cx="72720" cy="5303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274320" y="1097280"/>
            <a:ext cx="3748680" cy="548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411480" y="1161360"/>
            <a:ext cx="3474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Filtre 1 — BuildingType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411480" y="1783080"/>
            <a:ext cx="347436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Garder uniquement les bâtiments NonResidential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1 460 → 1 460 bâtiments retenus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Hôtels, bureaux, commerces, écoles…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Résidences, appartements exclus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4251960" y="1097280"/>
            <a:ext cx="3748680" cy="530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8"/>
          <p:cNvSpPr/>
          <p:nvPr/>
        </p:nvSpPr>
        <p:spPr>
          <a:xfrm>
            <a:off x="4251960" y="1097280"/>
            <a:ext cx="72720" cy="5303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9"/>
          <p:cNvSpPr/>
          <p:nvPr/>
        </p:nvSpPr>
        <p:spPr>
          <a:xfrm>
            <a:off x="4251960" y="1097280"/>
            <a:ext cx="3748680" cy="548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4389120" y="1161360"/>
            <a:ext cx="3474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Filtre 2 — Outlier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4389120" y="1783080"/>
            <a:ext cx="347436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Colonne identifiée par les agents de la ville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NaN = bâtiment normal → garder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'Low outlier' / 'High outlier' → supprimer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1 460 → 1 445 bâtiments retenus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2"/>
          <p:cNvSpPr/>
          <p:nvPr/>
        </p:nvSpPr>
        <p:spPr>
          <a:xfrm>
            <a:off x="8229600" y="1097280"/>
            <a:ext cx="3748680" cy="530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3"/>
          <p:cNvSpPr/>
          <p:nvPr/>
        </p:nvSpPr>
        <p:spPr>
          <a:xfrm>
            <a:off x="8229600" y="1097280"/>
            <a:ext cx="72720" cy="5303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14"/>
          <p:cNvSpPr/>
          <p:nvPr/>
        </p:nvSpPr>
        <p:spPr>
          <a:xfrm>
            <a:off x="8229600" y="1097280"/>
            <a:ext cx="3748680" cy="548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8366760" y="1161360"/>
            <a:ext cx="3474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Filtre 3 — ComplianceStatus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8366760" y="1783080"/>
            <a:ext cx="347436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Garder uniquement les bâtiments 'Compliant'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Non-Compliant / Missing Data / Error → exclus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Données non conformes = peu fiables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1 445 → 1 432 bâtiments retenus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7"/>
          <p:cNvSpPr/>
          <p:nvPr/>
        </p:nvSpPr>
        <p:spPr>
          <a:xfrm>
            <a:off x="274320" y="6492240"/>
            <a:ext cx="1161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1c7293"/>
                </a:solidFill>
                <a:latin typeface="Calibri"/>
                <a:ea typeface="Calibri"/>
              </a:rPr>
              <a:t>Résultat final : 1 419 bâtiments après IQR outliers sur la target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12188520" cy="914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36576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Choix de la target : SiteEnergyUseWN(kBtu)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274320" y="1097280"/>
            <a:ext cx="5394600" cy="5211720"/>
          </a:xfrm>
          <a:prstGeom prst="rect">
            <a:avLst/>
          </a:prstGeom>
          <a:solidFill>
            <a:srgbClr val="fff0f0"/>
          </a:solidFill>
          <a:ln w="12700">
            <a:solidFill>
              <a:srgbClr val="f095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274320" y="1097280"/>
            <a:ext cx="5394600" cy="5482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411480" y="1161360"/>
            <a:ext cx="5120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✗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SiteEnergyUse(kBtu) — SUPPRIMÉE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457200" y="1783080"/>
            <a:ext cx="50288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791f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791f1f"/>
                </a:solidFill>
                <a:latin typeface="Calibri"/>
                <a:ea typeface="Calibri"/>
              </a:rPr>
              <a:t>Consommation brute non normalisée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791f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791f1f"/>
                </a:solidFill>
                <a:latin typeface="Calibri"/>
                <a:ea typeface="Calibri"/>
              </a:rPr>
              <a:t>Influence des conditions météo annuelles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791f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791f1f"/>
                </a:solidFill>
                <a:latin typeface="Calibri"/>
                <a:ea typeface="Calibri"/>
              </a:rPr>
              <a:t>Moins représentative des caractéristiques structurelles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791f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791f1f"/>
                </a:solidFill>
                <a:latin typeface="Calibri"/>
                <a:ea typeface="Calibri"/>
              </a:rPr>
              <a:t>Remplacée par la version WN dans toute l'analyse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6492240" y="1097280"/>
            <a:ext cx="5394600" cy="5211720"/>
          </a:xfrm>
          <a:prstGeom prst="rect">
            <a:avLst/>
          </a:prstGeom>
          <a:solidFill>
            <a:srgbClr val="e1f5ee"/>
          </a:solidFill>
          <a:ln w="12700">
            <a:solidFill>
              <a:srgbClr val="5dca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6492240" y="1097280"/>
            <a:ext cx="5394600" cy="548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6629400" y="1161360"/>
            <a:ext cx="5120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SiteEnergyUseWN(kBtu) — RETENUE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6629400" y="1783080"/>
            <a:ext cx="50288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85041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85041"/>
                </a:solidFill>
                <a:latin typeface="Calibri"/>
                <a:ea typeface="Calibri"/>
              </a:rPr>
              <a:t>Weather Normalized = normalisée par rapport aux conditions météo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85041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85041"/>
                </a:solidFill>
                <a:latin typeface="Calibri"/>
                <a:ea typeface="Calibri"/>
              </a:rPr>
              <a:t>Plus représentative des caractéristiques structurelles du bâtiment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85041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85041"/>
                </a:solidFill>
                <a:latin typeface="Calibri"/>
                <a:ea typeface="Calibri"/>
              </a:rPr>
              <a:t>Neutralise l'effet des variations climatiques annuelles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85041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85041"/>
                </a:solidFill>
                <a:latin typeface="Calibri"/>
                <a:ea typeface="Calibri"/>
              </a:rPr>
              <a:t>Recommandée pour modéliser l'efficacité structurelle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5641920" y="3108960"/>
            <a:ext cx="914040" cy="456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5641920" y="310896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→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274320" y="6492240"/>
            <a:ext cx="1161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1c7293"/>
                </a:solidFill>
                <a:latin typeface="Calibri"/>
                <a:ea typeface="Calibri"/>
              </a:rPr>
              <a:t>Transformation log appliquée pour normaliser la distribution asymétrique → log(SiteEnergyUseWN)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12188520" cy="914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36576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Analyse exploratoire — insights clés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274320" y="1097280"/>
            <a:ext cx="3748680" cy="530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274320" y="1097280"/>
            <a:ext cx="72720" cy="5303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4"/>
          <p:cNvSpPr/>
          <p:nvPr/>
        </p:nvSpPr>
        <p:spPr>
          <a:xfrm>
            <a:off x="274320" y="1097280"/>
            <a:ext cx="3748680" cy="502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411480" y="1161360"/>
            <a:ext cx="34743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Nettoyage des données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411480" y="1719000"/>
            <a:ext cx="34743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3 filtres appliqués : BuildingType, Outlier, ComplianceStatus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Colonnes &gt;90% NaN supprimées (Comments, YearsENERGYSTARCertified…)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Data leakage évité : kBtu détaillés, EUI, GHGIntensity exclus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ENERGYSTARScore supprimé — data leakage (calculé à partir de la consommation réelle)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7"/>
          <p:cNvSpPr/>
          <p:nvPr/>
        </p:nvSpPr>
        <p:spPr>
          <a:xfrm>
            <a:off x="4251960" y="1097280"/>
            <a:ext cx="3748680" cy="530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8"/>
          <p:cNvSpPr/>
          <p:nvPr/>
        </p:nvSpPr>
        <p:spPr>
          <a:xfrm>
            <a:off x="4251960" y="1097280"/>
            <a:ext cx="72720" cy="5303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9"/>
          <p:cNvSpPr/>
          <p:nvPr/>
        </p:nvSpPr>
        <p:spPr>
          <a:xfrm>
            <a:off x="4251960" y="1097280"/>
            <a:ext cx="3748680" cy="502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4389120" y="1161360"/>
            <a:ext cx="34743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Distribution de la target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4389120" y="1719000"/>
            <a:ext cx="34743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SiteEnergyUseWN très asymétrique (longue queue droite)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Transformation log appliquée → distribution quasi-normale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Outliers IQR (5%–95%) supprimés sur la target transformée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1 419 bâtiments retenus pour la modélisation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2"/>
          <p:cNvSpPr/>
          <p:nvPr/>
        </p:nvSpPr>
        <p:spPr>
          <a:xfrm>
            <a:off x="8229600" y="1097280"/>
            <a:ext cx="3748680" cy="530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3"/>
          <p:cNvSpPr/>
          <p:nvPr/>
        </p:nvSpPr>
        <p:spPr>
          <a:xfrm>
            <a:off x="8229600" y="1097280"/>
            <a:ext cx="72720" cy="5303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4"/>
          <p:cNvSpPr/>
          <p:nvPr/>
        </p:nvSpPr>
        <p:spPr>
          <a:xfrm>
            <a:off x="8229600" y="1097280"/>
            <a:ext cx="3748680" cy="502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8366760" y="1161360"/>
            <a:ext cx="34743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Tendances observées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6"/>
          <p:cNvSpPr/>
          <p:nvPr/>
        </p:nvSpPr>
        <p:spPr>
          <a:xfrm>
            <a:off x="8366760" y="1719000"/>
            <a:ext cx="347436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Surface = corrélat le plus fort avec la consommation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Hôtels &amp; hôpitaux : consommation médiane la plus haute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Bâtiments avant 1960 : +30% vs bâtiments récents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Bâtiments multi-usage : comportement distinct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0" y="0"/>
            <a:ext cx="12188520" cy="914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36576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Feature engineering — 3 groupes de features créées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"/>
          <p:cNvSpPr/>
          <p:nvPr/>
        </p:nvSpPr>
        <p:spPr>
          <a:xfrm>
            <a:off x="274320" y="1097280"/>
            <a:ext cx="3748680" cy="548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411480" y="1161360"/>
            <a:ext cx="3474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Temporalité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4"/>
          <p:cNvSpPr/>
          <p:nvPr/>
        </p:nvSpPr>
        <p:spPr>
          <a:xfrm>
            <a:off x="274320" y="1645920"/>
            <a:ext cx="3748680" cy="475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5"/>
          <p:cNvSpPr/>
          <p:nvPr/>
        </p:nvSpPr>
        <p:spPr>
          <a:xfrm>
            <a:off x="411480" y="1783080"/>
            <a:ext cx="3474360" cy="73116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502920" y="182880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c39a"/>
                </a:solidFill>
                <a:latin typeface="Calibri"/>
                <a:ea typeface="Calibri"/>
              </a:rPr>
              <a:t>BuildingAge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502920" y="2130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7a8a"/>
                </a:solidFill>
                <a:latin typeface="Calibri"/>
                <a:ea typeface="Calibri"/>
              </a:rPr>
              <a:t>= 2016 − YearBuilt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8"/>
          <p:cNvSpPr/>
          <p:nvPr/>
        </p:nvSpPr>
        <p:spPr>
          <a:xfrm>
            <a:off x="411480" y="2697480"/>
            <a:ext cx="3474360" cy="73116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502920" y="274320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c39a"/>
                </a:solidFill>
                <a:latin typeface="Calibri"/>
                <a:ea typeface="Calibri"/>
              </a:rPr>
              <a:t>EraConstruction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502920" y="30448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7a8a"/>
                </a:solidFill>
                <a:latin typeface="Calibri"/>
                <a:ea typeface="Calibri"/>
              </a:rPr>
              <a:t>6 tranches (avant 1930 → après 2010)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1"/>
          <p:cNvSpPr/>
          <p:nvPr/>
        </p:nvSpPr>
        <p:spPr>
          <a:xfrm>
            <a:off x="411480" y="4754880"/>
            <a:ext cx="3474360" cy="1508400"/>
          </a:xfrm>
          <a:prstGeom prst="rect">
            <a:avLst/>
          </a:prstGeom>
          <a:solidFill>
            <a:srgbClr val="f0f8ff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502920" y="48279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Logique métier 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502920" y="5083920"/>
            <a:ext cx="3291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Les bâtiments anciens ont une isolation et des équipements moins performants → plus forte consommation.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4"/>
          <p:cNvSpPr/>
          <p:nvPr/>
        </p:nvSpPr>
        <p:spPr>
          <a:xfrm>
            <a:off x="4251960" y="1097280"/>
            <a:ext cx="3748680" cy="548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5"/>
          <p:cNvSpPr/>
          <p:nvPr/>
        </p:nvSpPr>
        <p:spPr>
          <a:xfrm>
            <a:off x="4389120" y="1161360"/>
            <a:ext cx="3474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Structure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6"/>
          <p:cNvSpPr/>
          <p:nvPr/>
        </p:nvSpPr>
        <p:spPr>
          <a:xfrm>
            <a:off x="4251960" y="1645920"/>
            <a:ext cx="3748680" cy="475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7"/>
          <p:cNvSpPr/>
          <p:nvPr/>
        </p:nvSpPr>
        <p:spPr>
          <a:xfrm>
            <a:off x="4389120" y="1783080"/>
            <a:ext cx="3474360" cy="73116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8"/>
          <p:cNvSpPr/>
          <p:nvPr/>
        </p:nvSpPr>
        <p:spPr>
          <a:xfrm>
            <a:off x="4480560" y="182880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c7293"/>
                </a:solidFill>
                <a:latin typeface="Calibri"/>
                <a:ea typeface="Calibri"/>
              </a:rPr>
              <a:t>GFAPerFloor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9"/>
          <p:cNvSpPr/>
          <p:nvPr/>
        </p:nvSpPr>
        <p:spPr>
          <a:xfrm>
            <a:off x="4480560" y="2130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7a8a"/>
                </a:solidFill>
                <a:latin typeface="Calibri"/>
                <a:ea typeface="Calibri"/>
              </a:rPr>
              <a:t>= Surface totale / NbÉtages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0"/>
          <p:cNvSpPr/>
          <p:nvPr/>
        </p:nvSpPr>
        <p:spPr>
          <a:xfrm>
            <a:off x="4389120" y="2697480"/>
            <a:ext cx="3474360" cy="73116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1"/>
          <p:cNvSpPr/>
          <p:nvPr/>
        </p:nvSpPr>
        <p:spPr>
          <a:xfrm>
            <a:off x="4480560" y="274320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c7293"/>
                </a:solidFill>
                <a:latin typeface="Calibri"/>
                <a:ea typeface="Calibri"/>
              </a:rPr>
              <a:t>ParkingRatio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2"/>
          <p:cNvSpPr/>
          <p:nvPr/>
        </p:nvSpPr>
        <p:spPr>
          <a:xfrm>
            <a:off x="4480560" y="30448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7a8a"/>
                </a:solidFill>
                <a:latin typeface="Calibri"/>
                <a:ea typeface="Calibri"/>
              </a:rPr>
              <a:t>= Surface parking / Surface totale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3"/>
          <p:cNvSpPr/>
          <p:nvPr/>
        </p:nvSpPr>
        <p:spPr>
          <a:xfrm>
            <a:off x="4389120" y="3611880"/>
            <a:ext cx="3474360" cy="73116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24"/>
          <p:cNvSpPr/>
          <p:nvPr/>
        </p:nvSpPr>
        <p:spPr>
          <a:xfrm>
            <a:off x="4480560" y="365760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c7293"/>
                </a:solidFill>
                <a:latin typeface="Calibri"/>
                <a:ea typeface="Calibri"/>
              </a:rPr>
              <a:t>MainUseRatio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5"/>
          <p:cNvSpPr/>
          <p:nvPr/>
        </p:nvSpPr>
        <p:spPr>
          <a:xfrm>
            <a:off x="4480560" y="39592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7a8a"/>
                </a:solidFill>
                <a:latin typeface="Calibri"/>
                <a:ea typeface="Calibri"/>
              </a:rPr>
              <a:t>= Surface usage principal / Totale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6"/>
          <p:cNvSpPr/>
          <p:nvPr/>
        </p:nvSpPr>
        <p:spPr>
          <a:xfrm>
            <a:off x="4389120" y="4754880"/>
            <a:ext cx="3474360" cy="1508400"/>
          </a:xfrm>
          <a:prstGeom prst="rect">
            <a:avLst/>
          </a:prstGeom>
          <a:solidFill>
            <a:srgbClr val="f0f8ff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27"/>
          <p:cNvSpPr/>
          <p:nvPr/>
        </p:nvSpPr>
        <p:spPr>
          <a:xfrm>
            <a:off x="4480560" y="48279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c7293"/>
                </a:solidFill>
                <a:latin typeface="Calibri"/>
                <a:ea typeface="Calibri"/>
              </a:rPr>
              <a:t>Logique métier 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28"/>
          <p:cNvSpPr/>
          <p:nvPr/>
        </p:nvSpPr>
        <p:spPr>
          <a:xfrm>
            <a:off x="4480560" y="5083920"/>
            <a:ext cx="3291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La morphologie du bâtiment influence les déperditions thermiques et la consommation énergétique.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29"/>
          <p:cNvSpPr/>
          <p:nvPr/>
        </p:nvSpPr>
        <p:spPr>
          <a:xfrm>
            <a:off x="8229600" y="1097280"/>
            <a:ext cx="3748680" cy="548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30"/>
          <p:cNvSpPr/>
          <p:nvPr/>
        </p:nvSpPr>
        <p:spPr>
          <a:xfrm>
            <a:off x="8366760" y="1161360"/>
            <a:ext cx="3474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Multi-usage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31"/>
          <p:cNvSpPr/>
          <p:nvPr/>
        </p:nvSpPr>
        <p:spPr>
          <a:xfrm>
            <a:off x="8229600" y="1645920"/>
            <a:ext cx="3748680" cy="475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32"/>
          <p:cNvSpPr/>
          <p:nvPr/>
        </p:nvSpPr>
        <p:spPr>
          <a:xfrm>
            <a:off x="8366760" y="1783080"/>
            <a:ext cx="3474360" cy="73116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33"/>
          <p:cNvSpPr/>
          <p:nvPr/>
        </p:nvSpPr>
        <p:spPr>
          <a:xfrm>
            <a:off x="8458200" y="182880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HasSecondUse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4"/>
          <p:cNvSpPr/>
          <p:nvPr/>
        </p:nvSpPr>
        <p:spPr>
          <a:xfrm>
            <a:off x="8458200" y="2130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7a8a"/>
                </a:solidFill>
                <a:latin typeface="Calibri"/>
                <a:ea typeface="Calibri"/>
              </a:rPr>
              <a:t>binaire (0/1) — 2e usage présent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35"/>
          <p:cNvSpPr/>
          <p:nvPr/>
        </p:nvSpPr>
        <p:spPr>
          <a:xfrm>
            <a:off x="8366760" y="2697480"/>
            <a:ext cx="3474360" cy="73116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36"/>
          <p:cNvSpPr/>
          <p:nvPr/>
        </p:nvSpPr>
        <p:spPr>
          <a:xfrm>
            <a:off x="8458200" y="274320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HasThirdUse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37"/>
          <p:cNvSpPr/>
          <p:nvPr/>
        </p:nvSpPr>
        <p:spPr>
          <a:xfrm>
            <a:off x="8458200" y="30448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7a8a"/>
                </a:solidFill>
                <a:latin typeface="Calibri"/>
                <a:ea typeface="Calibri"/>
              </a:rPr>
              <a:t>binaire (0/1) — 3e usage présent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8"/>
          <p:cNvSpPr/>
          <p:nvPr/>
        </p:nvSpPr>
        <p:spPr>
          <a:xfrm>
            <a:off x="8366760" y="4754880"/>
            <a:ext cx="3474360" cy="1508400"/>
          </a:xfrm>
          <a:prstGeom prst="rect">
            <a:avLst/>
          </a:prstGeom>
          <a:solidFill>
            <a:srgbClr val="f0f8ff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39"/>
          <p:cNvSpPr/>
          <p:nvPr/>
        </p:nvSpPr>
        <p:spPr>
          <a:xfrm>
            <a:off x="8458200" y="48279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Logique métier 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40"/>
          <p:cNvSpPr/>
          <p:nvPr/>
        </p:nvSpPr>
        <p:spPr>
          <a:xfrm>
            <a:off x="8458200" y="5083920"/>
            <a:ext cx="3291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Indiquer la diversité d'usage sans créer de data leakage (infos structurelles uniquement).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41"/>
          <p:cNvSpPr/>
          <p:nvPr/>
        </p:nvSpPr>
        <p:spPr>
          <a:xfrm>
            <a:off x="274320" y="6492240"/>
            <a:ext cx="1161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1c7293"/>
                </a:solidFill>
                <a:latin typeface="Calibri"/>
                <a:ea typeface="Calibri"/>
              </a:rPr>
              <a:t>7 nouvelles features créées — aucun data leakage (infos structurelles uniquement)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0" y="0"/>
            <a:ext cx="12188520" cy="914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36576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Préparation des features &amp; création du DataFrame de modélisation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274320" y="1097280"/>
            <a:ext cx="5486040" cy="530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274320" y="1097280"/>
            <a:ext cx="72720" cy="5303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457200" y="118872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Pipeline de prétraitement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411480" y="1691640"/>
            <a:ext cx="347040" cy="347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411480" y="1691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868680" y="170064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3 filtres appliqués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868680" y="1865520"/>
            <a:ext cx="4663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7a8a"/>
                </a:solidFill>
                <a:latin typeface="Calibri"/>
                <a:ea typeface="Calibri"/>
              </a:rPr>
              <a:t>Outlier, ComplianceStatus, NonResidential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9"/>
          <p:cNvSpPr/>
          <p:nvPr/>
        </p:nvSpPr>
        <p:spPr>
          <a:xfrm>
            <a:off x="411480" y="2441520"/>
            <a:ext cx="347040" cy="347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411480" y="244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868680" y="245052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Suppression outliers IQR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868680" y="2615040"/>
            <a:ext cx="4663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7a8a"/>
                </a:solidFill>
                <a:latin typeface="Calibri"/>
                <a:ea typeface="Calibri"/>
              </a:rPr>
              <a:t>5%–95% sur log(target) — équilibre qualité/quantité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411480" y="3191400"/>
            <a:ext cx="347040" cy="347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411480" y="31914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868680" y="320040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Matrice corrélation Pearson + Spearman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868680" y="3364920"/>
            <a:ext cx="4663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7a8a"/>
                </a:solidFill>
                <a:latin typeface="Calibri"/>
                <a:ea typeface="Calibri"/>
              </a:rPr>
              <a:t>PropertyGFATotal supprimé (colinéaire avec GFAPerFloor)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411480" y="3940920"/>
            <a:ext cx="347040" cy="347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411480" y="3940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9"/>
          <p:cNvSpPr/>
          <p:nvPr/>
        </p:nvSpPr>
        <p:spPr>
          <a:xfrm>
            <a:off x="868680" y="395028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StandardScaler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868680" y="4114800"/>
            <a:ext cx="4663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7a8a"/>
                </a:solidFill>
                <a:latin typeface="Calibri"/>
                <a:ea typeface="Calibri"/>
              </a:rPr>
              <a:t>Normalisation des 11 features numériques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1"/>
          <p:cNvSpPr/>
          <p:nvPr/>
        </p:nvSpPr>
        <p:spPr>
          <a:xfrm>
            <a:off x="411480" y="4690800"/>
            <a:ext cx="347040" cy="347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22"/>
          <p:cNvSpPr/>
          <p:nvPr/>
        </p:nvSpPr>
        <p:spPr>
          <a:xfrm>
            <a:off x="411480" y="4690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23"/>
          <p:cNvSpPr/>
          <p:nvPr/>
        </p:nvSpPr>
        <p:spPr>
          <a:xfrm>
            <a:off x="868680" y="470016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OneHotEncoder (max_categories=12)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24"/>
          <p:cNvSpPr/>
          <p:nvPr/>
        </p:nvSpPr>
        <p:spPr>
          <a:xfrm>
            <a:off x="868680" y="4864680"/>
            <a:ext cx="4663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7a8a"/>
                </a:solidFill>
                <a:latin typeface="Calibri"/>
                <a:ea typeface="Calibri"/>
              </a:rPr>
              <a:t>Évite l'explosion dimensionnelle sur LargestPropertyUseType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25"/>
          <p:cNvSpPr/>
          <p:nvPr/>
        </p:nvSpPr>
        <p:spPr>
          <a:xfrm>
            <a:off x="411480" y="5440680"/>
            <a:ext cx="347040" cy="347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26"/>
          <p:cNvSpPr/>
          <p:nvPr/>
        </p:nvSpPr>
        <p:spPr>
          <a:xfrm>
            <a:off x="411480" y="5440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7"/>
          <p:cNvSpPr/>
          <p:nvPr/>
        </p:nvSpPr>
        <p:spPr>
          <a:xfrm>
            <a:off x="868680" y="544968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Split 80/20 (random_state=42)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8"/>
          <p:cNvSpPr/>
          <p:nvPr/>
        </p:nvSpPr>
        <p:spPr>
          <a:xfrm>
            <a:off x="868680" y="5614560"/>
            <a:ext cx="4663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7a8a"/>
                </a:solidFill>
                <a:latin typeface="Calibri"/>
                <a:ea typeface="Calibri"/>
              </a:rPr>
              <a:t>Reproductibilité garantie — 1 135 train / 284 test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29"/>
          <p:cNvSpPr/>
          <p:nvPr/>
        </p:nvSpPr>
        <p:spPr>
          <a:xfrm>
            <a:off x="6217920" y="1097280"/>
            <a:ext cx="5668920" cy="530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0"/>
          <p:cNvSpPr/>
          <p:nvPr/>
        </p:nvSpPr>
        <p:spPr>
          <a:xfrm>
            <a:off x="6217920" y="1097280"/>
            <a:ext cx="72720" cy="5303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31"/>
          <p:cNvSpPr/>
          <p:nvPr/>
        </p:nvSpPr>
        <p:spPr>
          <a:xfrm>
            <a:off x="6400800" y="118872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DataFrame de modélisation (df_model)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2"/>
          <p:cNvSpPr/>
          <p:nvPr/>
        </p:nvSpPr>
        <p:spPr>
          <a:xfrm>
            <a:off x="6400800" y="1691640"/>
            <a:ext cx="1503720" cy="27396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33"/>
          <p:cNvSpPr/>
          <p:nvPr/>
        </p:nvSpPr>
        <p:spPr>
          <a:xfrm>
            <a:off x="6400800" y="1691640"/>
            <a:ext cx="150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65a82"/>
                </a:solidFill>
                <a:latin typeface="Calibri"/>
                <a:ea typeface="Calibri"/>
              </a:rPr>
              <a:t>NumberofBuildings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4"/>
          <p:cNvSpPr/>
          <p:nvPr/>
        </p:nvSpPr>
        <p:spPr>
          <a:xfrm>
            <a:off x="7978320" y="1691640"/>
            <a:ext cx="1270800" cy="27396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35"/>
          <p:cNvSpPr/>
          <p:nvPr/>
        </p:nvSpPr>
        <p:spPr>
          <a:xfrm>
            <a:off x="7978320" y="1691640"/>
            <a:ext cx="1270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65a82"/>
                </a:solidFill>
                <a:latin typeface="Calibri"/>
                <a:ea typeface="Calibri"/>
              </a:rPr>
              <a:t>NumberofFloors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38"/>
          <p:cNvSpPr/>
          <p:nvPr/>
        </p:nvSpPr>
        <p:spPr>
          <a:xfrm>
            <a:off x="6400800" y="2039040"/>
            <a:ext cx="1037520" cy="27396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39"/>
          <p:cNvSpPr/>
          <p:nvPr/>
        </p:nvSpPr>
        <p:spPr>
          <a:xfrm>
            <a:off x="6400800" y="2039040"/>
            <a:ext cx="1037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65a82"/>
                </a:solidFill>
                <a:latin typeface="Calibri"/>
                <a:ea typeface="Calibri"/>
              </a:rPr>
              <a:t>BuildingAge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40"/>
          <p:cNvSpPr/>
          <p:nvPr/>
        </p:nvSpPr>
        <p:spPr>
          <a:xfrm>
            <a:off x="7511760" y="2039040"/>
            <a:ext cx="1115280" cy="27396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41"/>
          <p:cNvSpPr/>
          <p:nvPr/>
        </p:nvSpPr>
        <p:spPr>
          <a:xfrm>
            <a:off x="7511760" y="2039040"/>
            <a:ext cx="1115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65a82"/>
                </a:solidFill>
                <a:latin typeface="Calibri"/>
                <a:ea typeface="Calibri"/>
              </a:rPr>
              <a:t>ParkingRatio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2"/>
          <p:cNvSpPr/>
          <p:nvPr/>
        </p:nvSpPr>
        <p:spPr>
          <a:xfrm>
            <a:off x="8700480" y="2039040"/>
            <a:ext cx="1037520" cy="27396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43"/>
          <p:cNvSpPr/>
          <p:nvPr/>
        </p:nvSpPr>
        <p:spPr>
          <a:xfrm>
            <a:off x="8700480" y="2039040"/>
            <a:ext cx="1037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65a82"/>
                </a:solidFill>
                <a:latin typeface="Calibri"/>
                <a:ea typeface="Calibri"/>
              </a:rPr>
              <a:t>GFAPerFloor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44"/>
          <p:cNvSpPr/>
          <p:nvPr/>
        </p:nvSpPr>
        <p:spPr>
          <a:xfrm>
            <a:off x="9811440" y="2039040"/>
            <a:ext cx="1115280" cy="27396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45"/>
          <p:cNvSpPr/>
          <p:nvPr/>
        </p:nvSpPr>
        <p:spPr>
          <a:xfrm>
            <a:off x="9811440" y="2039040"/>
            <a:ext cx="1115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65a82"/>
                </a:solidFill>
                <a:latin typeface="Calibri"/>
                <a:ea typeface="Calibri"/>
              </a:rPr>
              <a:t>MainUseRatio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46"/>
          <p:cNvSpPr/>
          <p:nvPr/>
        </p:nvSpPr>
        <p:spPr>
          <a:xfrm>
            <a:off x="6400800" y="2386440"/>
            <a:ext cx="1115280" cy="27396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47"/>
          <p:cNvSpPr/>
          <p:nvPr/>
        </p:nvSpPr>
        <p:spPr>
          <a:xfrm>
            <a:off x="6400800" y="2386440"/>
            <a:ext cx="1115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65a82"/>
                </a:solidFill>
                <a:latin typeface="Calibri"/>
                <a:ea typeface="Calibri"/>
              </a:rPr>
              <a:t>HasSecondUse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48"/>
          <p:cNvSpPr/>
          <p:nvPr/>
        </p:nvSpPr>
        <p:spPr>
          <a:xfrm>
            <a:off x="7589520" y="2386440"/>
            <a:ext cx="1037520" cy="27396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49"/>
          <p:cNvSpPr/>
          <p:nvPr/>
        </p:nvSpPr>
        <p:spPr>
          <a:xfrm>
            <a:off x="7589520" y="2386440"/>
            <a:ext cx="1037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65a82"/>
                </a:solidFill>
                <a:latin typeface="Calibri"/>
                <a:ea typeface="Calibri"/>
              </a:rPr>
              <a:t>HasThirdUse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50"/>
          <p:cNvSpPr/>
          <p:nvPr/>
        </p:nvSpPr>
        <p:spPr>
          <a:xfrm>
            <a:off x="8700480" y="2386440"/>
            <a:ext cx="804240" cy="27396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51"/>
          <p:cNvSpPr/>
          <p:nvPr/>
        </p:nvSpPr>
        <p:spPr>
          <a:xfrm>
            <a:off x="8700480" y="2386440"/>
            <a:ext cx="80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65a82"/>
                </a:solidFill>
                <a:latin typeface="Calibri"/>
                <a:ea typeface="Calibri"/>
              </a:rPr>
              <a:t>Latitude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52"/>
          <p:cNvSpPr/>
          <p:nvPr/>
        </p:nvSpPr>
        <p:spPr>
          <a:xfrm>
            <a:off x="9578520" y="2386440"/>
            <a:ext cx="882000" cy="27396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53"/>
          <p:cNvSpPr/>
          <p:nvPr/>
        </p:nvSpPr>
        <p:spPr>
          <a:xfrm>
            <a:off x="9578520" y="2386440"/>
            <a:ext cx="882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65a82"/>
                </a:solidFill>
                <a:latin typeface="Calibri"/>
                <a:ea typeface="Calibri"/>
              </a:rPr>
              <a:t>Longitude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54"/>
          <p:cNvSpPr/>
          <p:nvPr/>
        </p:nvSpPr>
        <p:spPr>
          <a:xfrm>
            <a:off x="6400800" y="2734200"/>
            <a:ext cx="1659240" cy="27396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55"/>
          <p:cNvSpPr/>
          <p:nvPr/>
        </p:nvSpPr>
        <p:spPr>
          <a:xfrm>
            <a:off x="6400800" y="2734200"/>
            <a:ext cx="165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65a82"/>
                </a:solidFill>
                <a:latin typeface="Calibri"/>
                <a:ea typeface="Calibri"/>
              </a:rPr>
              <a:t>CouncilDistrictCode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56"/>
          <p:cNvSpPr/>
          <p:nvPr/>
        </p:nvSpPr>
        <p:spPr>
          <a:xfrm>
            <a:off x="6400800" y="3145680"/>
            <a:ext cx="2559960" cy="273960"/>
          </a:xfrm>
          <a:prstGeom prst="rect">
            <a:avLst/>
          </a:prstGeom>
          <a:solidFill>
            <a:srgbClr val="e1f5ee"/>
          </a:solidFill>
          <a:ln w="6350">
            <a:solidFill>
              <a:srgbClr val="5dca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57"/>
          <p:cNvSpPr/>
          <p:nvPr/>
        </p:nvSpPr>
        <p:spPr>
          <a:xfrm>
            <a:off x="6400800" y="31456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85041"/>
                </a:solidFill>
                <a:latin typeface="Calibri"/>
                <a:ea typeface="Calibri"/>
              </a:rPr>
              <a:t>LargestPropertyUseType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58"/>
          <p:cNvSpPr/>
          <p:nvPr/>
        </p:nvSpPr>
        <p:spPr>
          <a:xfrm>
            <a:off x="6400800" y="3493080"/>
            <a:ext cx="2559960" cy="273960"/>
          </a:xfrm>
          <a:prstGeom prst="rect">
            <a:avLst/>
          </a:prstGeom>
          <a:solidFill>
            <a:srgbClr val="e1f5ee"/>
          </a:solidFill>
          <a:ln w="6350">
            <a:solidFill>
              <a:srgbClr val="5dca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59"/>
          <p:cNvSpPr/>
          <p:nvPr/>
        </p:nvSpPr>
        <p:spPr>
          <a:xfrm>
            <a:off x="6400800" y="34930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85041"/>
                </a:solidFill>
                <a:latin typeface="Calibri"/>
                <a:ea typeface="Calibri"/>
              </a:rPr>
              <a:t>EraConstruction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60"/>
          <p:cNvSpPr/>
          <p:nvPr/>
        </p:nvSpPr>
        <p:spPr>
          <a:xfrm>
            <a:off x="6400800" y="4572000"/>
            <a:ext cx="5303160" cy="1645560"/>
          </a:xfrm>
          <a:prstGeom prst="rect">
            <a:avLst/>
          </a:prstGeom>
          <a:solidFill>
            <a:srgbClr val="e1f5ee"/>
          </a:solidFill>
          <a:ln w="10160">
            <a:solidFill>
              <a:srgbClr val="5dca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61"/>
          <p:cNvSpPr/>
          <p:nvPr/>
        </p:nvSpPr>
        <p:spPr>
          <a:xfrm>
            <a:off x="6492240" y="464508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85041"/>
                </a:solidFill>
                <a:latin typeface="Calibri"/>
                <a:ea typeface="Calibri"/>
              </a:rPr>
              <a:t>Target : log(SiteEnergyUseWN(kBtu))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62"/>
          <p:cNvSpPr/>
          <p:nvPr/>
        </p:nvSpPr>
        <p:spPr>
          <a:xfrm>
            <a:off x="6492240" y="4983480"/>
            <a:ext cx="5120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85041"/>
                </a:solidFill>
                <a:latin typeface="Calibri"/>
                <a:ea typeface="Calibri"/>
              </a:rPr>
              <a:t>Transformation log pour normaliser la distribution asymétrique de la consommation énergétique.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0" y="0"/>
            <a:ext cx="12188520" cy="914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36576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Comparaison de 4 modèles — validation croisée 5 folds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"/>
          <p:cNvSpPr/>
          <p:nvPr/>
        </p:nvSpPr>
        <p:spPr>
          <a:xfrm>
            <a:off x="274320" y="1097280"/>
            <a:ext cx="2706120" cy="502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274320" y="1097280"/>
            <a:ext cx="2706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Modèle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3017520" y="1097280"/>
            <a:ext cx="1517400" cy="502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3017520" y="1097280"/>
            <a:ext cx="151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R² CV (moy)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6"/>
          <p:cNvSpPr/>
          <p:nvPr/>
        </p:nvSpPr>
        <p:spPr>
          <a:xfrm>
            <a:off x="4572000" y="1097280"/>
            <a:ext cx="1517400" cy="502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7"/>
          <p:cNvSpPr/>
          <p:nvPr/>
        </p:nvSpPr>
        <p:spPr>
          <a:xfrm>
            <a:off x="4572000" y="1097280"/>
            <a:ext cx="151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R² CV (std)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8"/>
          <p:cNvSpPr/>
          <p:nvPr/>
        </p:nvSpPr>
        <p:spPr>
          <a:xfrm>
            <a:off x="6126480" y="1097280"/>
            <a:ext cx="1425960" cy="502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6126480" y="1097280"/>
            <a:ext cx="142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R² Test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0"/>
          <p:cNvSpPr/>
          <p:nvPr/>
        </p:nvSpPr>
        <p:spPr>
          <a:xfrm>
            <a:off x="7589520" y="1097280"/>
            <a:ext cx="1471680" cy="502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1"/>
          <p:cNvSpPr/>
          <p:nvPr/>
        </p:nvSpPr>
        <p:spPr>
          <a:xfrm>
            <a:off x="7589520" y="1097280"/>
            <a:ext cx="147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MAE Test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2"/>
          <p:cNvSpPr/>
          <p:nvPr/>
        </p:nvSpPr>
        <p:spPr>
          <a:xfrm>
            <a:off x="9098280" y="1097280"/>
            <a:ext cx="1471680" cy="502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13"/>
          <p:cNvSpPr/>
          <p:nvPr/>
        </p:nvSpPr>
        <p:spPr>
          <a:xfrm>
            <a:off x="9098280" y="1097280"/>
            <a:ext cx="147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RMSE Test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4"/>
          <p:cNvSpPr/>
          <p:nvPr/>
        </p:nvSpPr>
        <p:spPr>
          <a:xfrm>
            <a:off x="274320" y="1627560"/>
            <a:ext cx="2706120" cy="58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15"/>
          <p:cNvSpPr/>
          <p:nvPr/>
        </p:nvSpPr>
        <p:spPr>
          <a:xfrm>
            <a:off x="274320" y="1627560"/>
            <a:ext cx="27061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Dummy (baseline)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6"/>
          <p:cNvSpPr/>
          <p:nvPr/>
        </p:nvSpPr>
        <p:spPr>
          <a:xfrm>
            <a:off x="3017520" y="1627560"/>
            <a:ext cx="1517400" cy="58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7"/>
          <p:cNvSpPr/>
          <p:nvPr/>
        </p:nvSpPr>
        <p:spPr>
          <a:xfrm>
            <a:off x="3017520" y="1627560"/>
            <a:ext cx="15174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≈ </a:t>
            </a: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0.00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18"/>
          <p:cNvSpPr/>
          <p:nvPr/>
        </p:nvSpPr>
        <p:spPr>
          <a:xfrm>
            <a:off x="4572000" y="1627560"/>
            <a:ext cx="1517400" cy="58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9"/>
          <p:cNvSpPr/>
          <p:nvPr/>
        </p:nvSpPr>
        <p:spPr>
          <a:xfrm>
            <a:off x="4572000" y="1627560"/>
            <a:ext cx="15174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±0.00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0"/>
          <p:cNvSpPr/>
          <p:nvPr/>
        </p:nvSpPr>
        <p:spPr>
          <a:xfrm>
            <a:off x="6126480" y="1627560"/>
            <a:ext cx="1425960" cy="58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1"/>
          <p:cNvSpPr/>
          <p:nvPr/>
        </p:nvSpPr>
        <p:spPr>
          <a:xfrm>
            <a:off x="6126480" y="1627560"/>
            <a:ext cx="1425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≈ </a:t>
            </a: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0.00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2"/>
          <p:cNvSpPr/>
          <p:nvPr/>
        </p:nvSpPr>
        <p:spPr>
          <a:xfrm>
            <a:off x="7589520" y="1627560"/>
            <a:ext cx="1471680" cy="58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23"/>
          <p:cNvSpPr/>
          <p:nvPr/>
        </p:nvSpPr>
        <p:spPr>
          <a:xfrm>
            <a:off x="7589520" y="1627560"/>
            <a:ext cx="1471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—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24"/>
          <p:cNvSpPr/>
          <p:nvPr/>
        </p:nvSpPr>
        <p:spPr>
          <a:xfrm>
            <a:off x="9098280" y="1627560"/>
            <a:ext cx="1471680" cy="58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5"/>
          <p:cNvSpPr/>
          <p:nvPr/>
        </p:nvSpPr>
        <p:spPr>
          <a:xfrm>
            <a:off x="9098280" y="1627560"/>
            <a:ext cx="1471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—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26"/>
          <p:cNvSpPr/>
          <p:nvPr/>
        </p:nvSpPr>
        <p:spPr>
          <a:xfrm>
            <a:off x="274320" y="2249280"/>
            <a:ext cx="2706120" cy="585000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27"/>
          <p:cNvSpPr/>
          <p:nvPr/>
        </p:nvSpPr>
        <p:spPr>
          <a:xfrm>
            <a:off x="274320" y="2249280"/>
            <a:ext cx="27061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Régression Linéaire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8"/>
          <p:cNvSpPr/>
          <p:nvPr/>
        </p:nvSpPr>
        <p:spPr>
          <a:xfrm>
            <a:off x="3017520" y="2249280"/>
            <a:ext cx="1517400" cy="585000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29"/>
          <p:cNvSpPr/>
          <p:nvPr/>
        </p:nvSpPr>
        <p:spPr>
          <a:xfrm>
            <a:off x="3017520" y="2249280"/>
            <a:ext cx="15174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≈ </a:t>
            </a: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0.62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30"/>
          <p:cNvSpPr/>
          <p:nvPr/>
        </p:nvSpPr>
        <p:spPr>
          <a:xfrm>
            <a:off x="4572000" y="2249280"/>
            <a:ext cx="1517400" cy="585000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1"/>
          <p:cNvSpPr/>
          <p:nvPr/>
        </p:nvSpPr>
        <p:spPr>
          <a:xfrm>
            <a:off x="4572000" y="2249280"/>
            <a:ext cx="15174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±0.06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32"/>
          <p:cNvSpPr/>
          <p:nvPr/>
        </p:nvSpPr>
        <p:spPr>
          <a:xfrm>
            <a:off x="6126480" y="2249280"/>
            <a:ext cx="1425960" cy="585000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33"/>
          <p:cNvSpPr/>
          <p:nvPr/>
        </p:nvSpPr>
        <p:spPr>
          <a:xfrm>
            <a:off x="6126480" y="2249280"/>
            <a:ext cx="1425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≈ </a:t>
            </a: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0.61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34"/>
          <p:cNvSpPr/>
          <p:nvPr/>
        </p:nvSpPr>
        <p:spPr>
          <a:xfrm>
            <a:off x="7589520" y="2249280"/>
            <a:ext cx="1471680" cy="585000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35"/>
          <p:cNvSpPr/>
          <p:nvPr/>
        </p:nvSpPr>
        <p:spPr>
          <a:xfrm>
            <a:off x="7589520" y="2249280"/>
            <a:ext cx="1471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~0.57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36"/>
          <p:cNvSpPr/>
          <p:nvPr/>
        </p:nvSpPr>
        <p:spPr>
          <a:xfrm>
            <a:off x="9098280" y="2249280"/>
            <a:ext cx="1471680" cy="585000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37"/>
          <p:cNvSpPr/>
          <p:nvPr/>
        </p:nvSpPr>
        <p:spPr>
          <a:xfrm>
            <a:off x="9098280" y="2249280"/>
            <a:ext cx="1471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~0.75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38"/>
          <p:cNvSpPr/>
          <p:nvPr/>
        </p:nvSpPr>
        <p:spPr>
          <a:xfrm>
            <a:off x="274320" y="2871360"/>
            <a:ext cx="2706120" cy="58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39"/>
          <p:cNvSpPr/>
          <p:nvPr/>
        </p:nvSpPr>
        <p:spPr>
          <a:xfrm>
            <a:off x="274320" y="2871360"/>
            <a:ext cx="27061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SVR (RBF)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40"/>
          <p:cNvSpPr/>
          <p:nvPr/>
        </p:nvSpPr>
        <p:spPr>
          <a:xfrm>
            <a:off x="3017520" y="2871360"/>
            <a:ext cx="1517400" cy="58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41"/>
          <p:cNvSpPr/>
          <p:nvPr/>
        </p:nvSpPr>
        <p:spPr>
          <a:xfrm>
            <a:off x="3017520" y="2871360"/>
            <a:ext cx="15174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≈ </a:t>
            </a: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0.73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42"/>
          <p:cNvSpPr/>
          <p:nvPr/>
        </p:nvSpPr>
        <p:spPr>
          <a:xfrm>
            <a:off x="4572000" y="2871360"/>
            <a:ext cx="1517400" cy="58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43"/>
          <p:cNvSpPr/>
          <p:nvPr/>
        </p:nvSpPr>
        <p:spPr>
          <a:xfrm>
            <a:off x="4572000" y="2871360"/>
            <a:ext cx="15174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±0.05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44"/>
          <p:cNvSpPr/>
          <p:nvPr/>
        </p:nvSpPr>
        <p:spPr>
          <a:xfrm>
            <a:off x="6126480" y="2871360"/>
            <a:ext cx="1425960" cy="58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45"/>
          <p:cNvSpPr/>
          <p:nvPr/>
        </p:nvSpPr>
        <p:spPr>
          <a:xfrm>
            <a:off x="6126480" y="2871360"/>
            <a:ext cx="1425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≈ </a:t>
            </a: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0.71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46"/>
          <p:cNvSpPr/>
          <p:nvPr/>
        </p:nvSpPr>
        <p:spPr>
          <a:xfrm>
            <a:off x="7589520" y="2871360"/>
            <a:ext cx="1471680" cy="58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47"/>
          <p:cNvSpPr/>
          <p:nvPr/>
        </p:nvSpPr>
        <p:spPr>
          <a:xfrm>
            <a:off x="7589520" y="2871360"/>
            <a:ext cx="1471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~0.43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48"/>
          <p:cNvSpPr/>
          <p:nvPr/>
        </p:nvSpPr>
        <p:spPr>
          <a:xfrm>
            <a:off x="9098280" y="2871360"/>
            <a:ext cx="1471680" cy="58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49"/>
          <p:cNvSpPr/>
          <p:nvPr/>
        </p:nvSpPr>
        <p:spPr>
          <a:xfrm>
            <a:off x="9098280" y="2871360"/>
            <a:ext cx="1471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3b"/>
                </a:solidFill>
                <a:latin typeface="Calibri"/>
                <a:ea typeface="Calibri"/>
              </a:rPr>
              <a:t>~0.62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50"/>
          <p:cNvSpPr/>
          <p:nvPr/>
        </p:nvSpPr>
        <p:spPr>
          <a:xfrm>
            <a:off x="274320" y="3493080"/>
            <a:ext cx="2706120" cy="585000"/>
          </a:xfrm>
          <a:prstGeom prst="rect">
            <a:avLst/>
          </a:prstGeom>
          <a:solidFill>
            <a:srgbClr val="d5eef7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51"/>
          <p:cNvSpPr/>
          <p:nvPr/>
        </p:nvSpPr>
        <p:spPr>
          <a:xfrm>
            <a:off x="274320" y="3493080"/>
            <a:ext cx="27061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Random Forest ✓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52"/>
          <p:cNvSpPr/>
          <p:nvPr/>
        </p:nvSpPr>
        <p:spPr>
          <a:xfrm>
            <a:off x="3017520" y="3493080"/>
            <a:ext cx="1517400" cy="585000"/>
          </a:xfrm>
          <a:prstGeom prst="rect">
            <a:avLst/>
          </a:prstGeom>
          <a:solidFill>
            <a:srgbClr val="d5eef7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53"/>
          <p:cNvSpPr/>
          <p:nvPr/>
        </p:nvSpPr>
        <p:spPr>
          <a:xfrm>
            <a:off x="3017520" y="3493080"/>
            <a:ext cx="15174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≈ </a:t>
            </a: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0.85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54"/>
          <p:cNvSpPr/>
          <p:nvPr/>
        </p:nvSpPr>
        <p:spPr>
          <a:xfrm>
            <a:off x="4572000" y="3493080"/>
            <a:ext cx="1517400" cy="585000"/>
          </a:xfrm>
          <a:prstGeom prst="rect">
            <a:avLst/>
          </a:prstGeom>
          <a:solidFill>
            <a:srgbClr val="d5eef7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55"/>
          <p:cNvSpPr/>
          <p:nvPr/>
        </p:nvSpPr>
        <p:spPr>
          <a:xfrm>
            <a:off x="4572000" y="3493080"/>
            <a:ext cx="15174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±0.03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56"/>
          <p:cNvSpPr/>
          <p:nvPr/>
        </p:nvSpPr>
        <p:spPr>
          <a:xfrm>
            <a:off x="6126480" y="3493080"/>
            <a:ext cx="1425960" cy="585000"/>
          </a:xfrm>
          <a:prstGeom prst="rect">
            <a:avLst/>
          </a:prstGeom>
          <a:solidFill>
            <a:srgbClr val="d5eef7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57"/>
          <p:cNvSpPr/>
          <p:nvPr/>
        </p:nvSpPr>
        <p:spPr>
          <a:xfrm>
            <a:off x="6126480" y="3493080"/>
            <a:ext cx="1425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≈ </a:t>
            </a: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0.85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58"/>
          <p:cNvSpPr/>
          <p:nvPr/>
        </p:nvSpPr>
        <p:spPr>
          <a:xfrm>
            <a:off x="7589520" y="3493080"/>
            <a:ext cx="1471680" cy="585000"/>
          </a:xfrm>
          <a:prstGeom prst="rect">
            <a:avLst/>
          </a:prstGeom>
          <a:solidFill>
            <a:srgbClr val="d5eef7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59"/>
          <p:cNvSpPr/>
          <p:nvPr/>
        </p:nvSpPr>
        <p:spPr>
          <a:xfrm>
            <a:off x="7589520" y="3493080"/>
            <a:ext cx="1471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~0.30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60"/>
          <p:cNvSpPr/>
          <p:nvPr/>
        </p:nvSpPr>
        <p:spPr>
          <a:xfrm>
            <a:off x="9098280" y="3493080"/>
            <a:ext cx="1471680" cy="585000"/>
          </a:xfrm>
          <a:prstGeom prst="rect">
            <a:avLst/>
          </a:prstGeom>
          <a:solidFill>
            <a:srgbClr val="d5eef7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61"/>
          <p:cNvSpPr/>
          <p:nvPr/>
        </p:nvSpPr>
        <p:spPr>
          <a:xfrm>
            <a:off x="9098280" y="3493080"/>
            <a:ext cx="1471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~0.45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62"/>
          <p:cNvSpPr/>
          <p:nvPr/>
        </p:nvSpPr>
        <p:spPr>
          <a:xfrm>
            <a:off x="274320" y="4224600"/>
            <a:ext cx="11612520" cy="5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63"/>
          <p:cNvSpPr/>
          <p:nvPr/>
        </p:nvSpPr>
        <p:spPr>
          <a:xfrm>
            <a:off x="274320" y="4389120"/>
            <a:ext cx="2834280" cy="2194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64"/>
          <p:cNvSpPr/>
          <p:nvPr/>
        </p:nvSpPr>
        <p:spPr>
          <a:xfrm>
            <a:off x="274320" y="4389120"/>
            <a:ext cx="72720" cy="2194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65"/>
          <p:cNvSpPr/>
          <p:nvPr/>
        </p:nvSpPr>
        <p:spPr>
          <a:xfrm>
            <a:off x="438840" y="44622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Dummy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66"/>
          <p:cNvSpPr/>
          <p:nvPr/>
        </p:nvSpPr>
        <p:spPr>
          <a:xfrm>
            <a:off x="438840" y="4809600"/>
            <a:ext cx="25599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Plancher de référence. R²=0 attendu.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67"/>
          <p:cNvSpPr/>
          <p:nvPr/>
        </p:nvSpPr>
        <p:spPr>
          <a:xfrm>
            <a:off x="3264480" y="4389120"/>
            <a:ext cx="2834280" cy="2194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68"/>
          <p:cNvSpPr/>
          <p:nvPr/>
        </p:nvSpPr>
        <p:spPr>
          <a:xfrm>
            <a:off x="3264480" y="4389120"/>
            <a:ext cx="72720" cy="2194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69"/>
          <p:cNvSpPr/>
          <p:nvPr/>
        </p:nvSpPr>
        <p:spPr>
          <a:xfrm>
            <a:off x="3429000" y="44622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c7293"/>
                </a:solidFill>
                <a:latin typeface="Calibri"/>
                <a:ea typeface="Calibri"/>
              </a:rPr>
              <a:t>Linéaire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70"/>
          <p:cNvSpPr/>
          <p:nvPr/>
        </p:nvSpPr>
        <p:spPr>
          <a:xfrm>
            <a:off x="3429000" y="4809600"/>
            <a:ext cx="25599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Capture les grandes tendances. Limitée sur les non-linéarités.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71"/>
          <p:cNvSpPr/>
          <p:nvPr/>
        </p:nvSpPr>
        <p:spPr>
          <a:xfrm>
            <a:off x="6254640" y="4389120"/>
            <a:ext cx="2834280" cy="2194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72"/>
          <p:cNvSpPr/>
          <p:nvPr/>
        </p:nvSpPr>
        <p:spPr>
          <a:xfrm>
            <a:off x="6254640" y="4389120"/>
            <a:ext cx="72720" cy="2194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73"/>
          <p:cNvSpPr/>
          <p:nvPr/>
        </p:nvSpPr>
        <p:spPr>
          <a:xfrm>
            <a:off x="6419160" y="44622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c7293"/>
                </a:solidFill>
                <a:latin typeface="Calibri"/>
                <a:ea typeface="Calibri"/>
              </a:rPr>
              <a:t>SVR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74"/>
          <p:cNvSpPr/>
          <p:nvPr/>
        </p:nvSpPr>
        <p:spPr>
          <a:xfrm>
            <a:off x="6419160" y="4809600"/>
            <a:ext cx="25599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Meilleur grâce au noyau RBF. Sensible au scaling.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75"/>
          <p:cNvSpPr/>
          <p:nvPr/>
        </p:nvSpPr>
        <p:spPr>
          <a:xfrm>
            <a:off x="9244440" y="4389120"/>
            <a:ext cx="2834280" cy="2194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76"/>
          <p:cNvSpPr/>
          <p:nvPr/>
        </p:nvSpPr>
        <p:spPr>
          <a:xfrm>
            <a:off x="9244440" y="4389120"/>
            <a:ext cx="72720" cy="2194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77"/>
          <p:cNvSpPr/>
          <p:nvPr/>
        </p:nvSpPr>
        <p:spPr>
          <a:xfrm>
            <a:off x="9409320" y="44622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c39a"/>
                </a:solidFill>
                <a:latin typeface="Calibri"/>
                <a:ea typeface="Calibri"/>
              </a:rPr>
              <a:t>Random Forest ✓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78"/>
          <p:cNvSpPr/>
          <p:nvPr/>
        </p:nvSpPr>
        <p:spPr>
          <a:xfrm>
            <a:off x="9409320" y="4809600"/>
            <a:ext cx="25599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Meilleur R² et std faible → robuste. Retenu !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0"/>
          <p:cNvSpPr/>
          <p:nvPr/>
        </p:nvSpPr>
        <p:spPr>
          <a:xfrm>
            <a:off x="0" y="0"/>
            <a:ext cx="12188520" cy="914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1"/>
          <p:cNvSpPr/>
          <p:nvPr/>
        </p:nvSpPr>
        <p:spPr>
          <a:xfrm>
            <a:off x="36576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Optimisation — GridSearchCV sur Random Forest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2"/>
          <p:cNvSpPr/>
          <p:nvPr/>
        </p:nvSpPr>
        <p:spPr>
          <a:xfrm>
            <a:off x="274320" y="1097280"/>
            <a:ext cx="5303160" cy="530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3"/>
          <p:cNvSpPr/>
          <p:nvPr/>
        </p:nvSpPr>
        <p:spPr>
          <a:xfrm>
            <a:off x="274320" y="1097280"/>
            <a:ext cx="72720" cy="5303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457200" y="11887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Grille de recherche (54 combinaisons)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5"/>
          <p:cNvSpPr/>
          <p:nvPr/>
        </p:nvSpPr>
        <p:spPr>
          <a:xfrm>
            <a:off x="411480" y="1719000"/>
            <a:ext cx="5028840" cy="71280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6"/>
          <p:cNvSpPr/>
          <p:nvPr/>
        </p:nvSpPr>
        <p:spPr>
          <a:xfrm>
            <a:off x="502920" y="17920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n_estimators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7"/>
          <p:cNvSpPr/>
          <p:nvPr/>
        </p:nvSpPr>
        <p:spPr>
          <a:xfrm>
            <a:off x="2377440" y="17920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7293"/>
                </a:solidFill>
                <a:latin typeface="Calibri"/>
                <a:ea typeface="Calibri"/>
              </a:rPr>
              <a:t>[100, 200, 300]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8"/>
          <p:cNvSpPr/>
          <p:nvPr/>
        </p:nvSpPr>
        <p:spPr>
          <a:xfrm>
            <a:off x="3840480" y="17920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7a8a"/>
                </a:solidFill>
                <a:latin typeface="Calibri"/>
                <a:ea typeface="Calibri"/>
              </a:rPr>
              <a:t>Nombre d'arbres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9"/>
          <p:cNvSpPr/>
          <p:nvPr/>
        </p:nvSpPr>
        <p:spPr>
          <a:xfrm>
            <a:off x="411480" y="2523600"/>
            <a:ext cx="5028840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0"/>
          <p:cNvSpPr/>
          <p:nvPr/>
        </p:nvSpPr>
        <p:spPr>
          <a:xfrm>
            <a:off x="502920" y="25970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max_depth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1"/>
          <p:cNvSpPr/>
          <p:nvPr/>
        </p:nvSpPr>
        <p:spPr>
          <a:xfrm>
            <a:off x="2377440" y="25970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7293"/>
                </a:solidFill>
                <a:latin typeface="Calibri"/>
                <a:ea typeface="Calibri"/>
              </a:rPr>
              <a:t>[10, 20, None]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12"/>
          <p:cNvSpPr/>
          <p:nvPr/>
        </p:nvSpPr>
        <p:spPr>
          <a:xfrm>
            <a:off x="3840480" y="259704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7a8a"/>
                </a:solidFill>
                <a:latin typeface="Calibri"/>
                <a:ea typeface="Calibri"/>
              </a:rPr>
              <a:t>Profondeur maximale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13"/>
          <p:cNvSpPr/>
          <p:nvPr/>
        </p:nvSpPr>
        <p:spPr>
          <a:xfrm>
            <a:off x="411480" y="3328560"/>
            <a:ext cx="5028840" cy="71280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14"/>
          <p:cNvSpPr/>
          <p:nvPr/>
        </p:nvSpPr>
        <p:spPr>
          <a:xfrm>
            <a:off x="502920" y="34016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min_samples_split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15"/>
          <p:cNvSpPr/>
          <p:nvPr/>
        </p:nvSpPr>
        <p:spPr>
          <a:xfrm>
            <a:off x="2377440" y="34016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7293"/>
                </a:solidFill>
                <a:latin typeface="Calibri"/>
                <a:ea typeface="Calibri"/>
              </a:rPr>
              <a:t>[2, 5, 10]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6"/>
          <p:cNvSpPr/>
          <p:nvPr/>
        </p:nvSpPr>
        <p:spPr>
          <a:xfrm>
            <a:off x="3840480" y="340164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7a8a"/>
                </a:solidFill>
                <a:latin typeface="Calibri"/>
                <a:ea typeface="Calibri"/>
              </a:rPr>
              <a:t>Min. échantillons/split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17"/>
          <p:cNvSpPr/>
          <p:nvPr/>
        </p:nvSpPr>
        <p:spPr>
          <a:xfrm>
            <a:off x="411480" y="4133160"/>
            <a:ext cx="5028840" cy="712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18"/>
          <p:cNvSpPr/>
          <p:nvPr/>
        </p:nvSpPr>
        <p:spPr>
          <a:xfrm>
            <a:off x="502920" y="42062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max_features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19"/>
          <p:cNvSpPr/>
          <p:nvPr/>
        </p:nvSpPr>
        <p:spPr>
          <a:xfrm>
            <a:off x="2377440" y="42062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7293"/>
                </a:solidFill>
                <a:latin typeface="Calibri"/>
                <a:ea typeface="Calibri"/>
              </a:rPr>
              <a:t>['sqrt', 0.5]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20"/>
          <p:cNvSpPr/>
          <p:nvPr/>
        </p:nvSpPr>
        <p:spPr>
          <a:xfrm>
            <a:off x="3840480" y="420624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7a8a"/>
                </a:solidFill>
                <a:latin typeface="Calibri"/>
                <a:ea typeface="Calibri"/>
              </a:rPr>
              <a:t>Features par nœud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21"/>
          <p:cNvSpPr/>
          <p:nvPr/>
        </p:nvSpPr>
        <p:spPr>
          <a:xfrm>
            <a:off x="411480" y="5074920"/>
            <a:ext cx="5028840" cy="502560"/>
          </a:xfrm>
          <a:prstGeom prst="rect">
            <a:avLst/>
          </a:prstGeom>
          <a:solidFill>
            <a:srgbClr val="e1f5ee"/>
          </a:solidFill>
          <a:ln w="10160">
            <a:solidFill>
              <a:srgbClr val="5dca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22"/>
          <p:cNvSpPr/>
          <p:nvPr/>
        </p:nvSpPr>
        <p:spPr>
          <a:xfrm>
            <a:off x="502920" y="512064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85041"/>
                </a:solidFill>
                <a:latin typeface="Calibri"/>
                <a:ea typeface="Calibri"/>
              </a:rPr>
              <a:t>3×3×3×2 = 54 combinaisons × 5 folds = 270 fits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23"/>
          <p:cNvSpPr/>
          <p:nvPr/>
        </p:nvSpPr>
        <p:spPr>
          <a:xfrm>
            <a:off x="6126480" y="1097280"/>
            <a:ext cx="5760360" cy="1096920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24"/>
          <p:cNvSpPr/>
          <p:nvPr/>
        </p:nvSpPr>
        <p:spPr>
          <a:xfrm>
            <a:off x="6263640" y="117036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65a82"/>
                </a:solidFill>
                <a:latin typeface="Calibri"/>
                <a:ea typeface="Calibri"/>
              </a:rPr>
              <a:t>~0.85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25"/>
          <p:cNvSpPr/>
          <p:nvPr/>
        </p:nvSpPr>
        <p:spPr>
          <a:xfrm>
            <a:off x="7589520" y="11703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7293"/>
                </a:solidFill>
                <a:latin typeface="Calibri"/>
                <a:ea typeface="Calibri"/>
              </a:rPr>
              <a:t>R² Test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26"/>
          <p:cNvSpPr/>
          <p:nvPr/>
        </p:nvSpPr>
        <p:spPr>
          <a:xfrm>
            <a:off x="6263640" y="175572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7a8a"/>
                </a:solidFill>
                <a:latin typeface="Calibri"/>
                <a:ea typeface="Calibri"/>
              </a:rPr>
              <a:t>85% de la variance expliquée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27"/>
          <p:cNvSpPr/>
          <p:nvPr/>
        </p:nvSpPr>
        <p:spPr>
          <a:xfrm>
            <a:off x="6126480" y="2331720"/>
            <a:ext cx="576036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28"/>
          <p:cNvSpPr/>
          <p:nvPr/>
        </p:nvSpPr>
        <p:spPr>
          <a:xfrm>
            <a:off x="6263640" y="240480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65a82"/>
                </a:solidFill>
                <a:latin typeface="Calibri"/>
                <a:ea typeface="Calibri"/>
              </a:rPr>
              <a:t>~0.30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29"/>
          <p:cNvSpPr/>
          <p:nvPr/>
        </p:nvSpPr>
        <p:spPr>
          <a:xfrm>
            <a:off x="7589520" y="2404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7293"/>
                </a:solidFill>
                <a:latin typeface="Calibri"/>
                <a:ea typeface="Calibri"/>
              </a:rPr>
              <a:t>MAE Test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30"/>
          <p:cNvSpPr/>
          <p:nvPr/>
        </p:nvSpPr>
        <p:spPr>
          <a:xfrm>
            <a:off x="6263640" y="299016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7a8a"/>
                </a:solidFill>
                <a:latin typeface="Calibri"/>
                <a:ea typeface="Calibri"/>
              </a:rPr>
              <a:t>Erreur moy. ±0.30 log — ±~35% brut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31"/>
          <p:cNvSpPr/>
          <p:nvPr/>
        </p:nvSpPr>
        <p:spPr>
          <a:xfrm>
            <a:off x="6126480" y="3566160"/>
            <a:ext cx="5760360" cy="1096920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32"/>
          <p:cNvSpPr/>
          <p:nvPr/>
        </p:nvSpPr>
        <p:spPr>
          <a:xfrm>
            <a:off x="6263640" y="363924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65a82"/>
                </a:solidFill>
                <a:latin typeface="Calibri"/>
                <a:ea typeface="Calibri"/>
              </a:rPr>
              <a:t>~0.45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33"/>
          <p:cNvSpPr/>
          <p:nvPr/>
        </p:nvSpPr>
        <p:spPr>
          <a:xfrm>
            <a:off x="7589520" y="363924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7293"/>
                </a:solidFill>
                <a:latin typeface="Calibri"/>
                <a:ea typeface="Calibri"/>
              </a:rPr>
              <a:t>RMSE Test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34"/>
          <p:cNvSpPr/>
          <p:nvPr/>
        </p:nvSpPr>
        <p:spPr>
          <a:xfrm>
            <a:off x="6263640" y="422460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7a8a"/>
                </a:solidFill>
                <a:latin typeface="Calibri"/>
                <a:ea typeface="Calibri"/>
              </a:rPr>
              <a:t>Pénalise les grandes erreurs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35"/>
          <p:cNvSpPr/>
          <p:nvPr/>
        </p:nvSpPr>
        <p:spPr>
          <a:xfrm>
            <a:off x="6126480" y="4800600"/>
            <a:ext cx="576036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36"/>
          <p:cNvSpPr/>
          <p:nvPr/>
        </p:nvSpPr>
        <p:spPr>
          <a:xfrm>
            <a:off x="6263640" y="487368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65a82"/>
                </a:solidFill>
                <a:latin typeface="Calibri"/>
                <a:ea typeface="Calibri"/>
              </a:rPr>
              <a:t>~0.90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37"/>
          <p:cNvSpPr/>
          <p:nvPr/>
        </p:nvSpPr>
        <p:spPr>
          <a:xfrm>
            <a:off x="7589520" y="48736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7293"/>
                </a:solidFill>
                <a:latin typeface="Calibri"/>
                <a:ea typeface="Calibri"/>
              </a:rPr>
              <a:t>R² Train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38"/>
          <p:cNvSpPr/>
          <p:nvPr/>
        </p:nvSpPr>
        <p:spPr>
          <a:xfrm>
            <a:off x="6263640" y="545904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7a8a"/>
                </a:solidFill>
                <a:latin typeface="Calibri"/>
                <a:ea typeface="Calibri"/>
              </a:rPr>
              <a:t>Surapprentissage modéré contrôlé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39"/>
          <p:cNvSpPr/>
          <p:nvPr/>
        </p:nvSpPr>
        <p:spPr>
          <a:xfrm>
            <a:off x="6126480" y="6080760"/>
            <a:ext cx="5760360" cy="594000"/>
          </a:xfrm>
          <a:prstGeom prst="rect">
            <a:avLst/>
          </a:prstGeom>
          <a:solidFill>
            <a:srgbClr val="e1f5ee"/>
          </a:solidFill>
          <a:ln w="10160">
            <a:solidFill>
              <a:srgbClr val="5dca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40"/>
          <p:cNvSpPr/>
          <p:nvPr/>
        </p:nvSpPr>
        <p:spPr>
          <a:xfrm>
            <a:off x="6263640" y="614484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85041"/>
                </a:solidFill>
                <a:latin typeface="Calibri"/>
                <a:ea typeface="Calibri"/>
              </a:rPr>
              <a:t>Le modèle se trompe de ±35% sur la valeur brute → acceptable pour prioriser les audits énergétiques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0"/>
          <p:cNvSpPr/>
          <p:nvPr/>
        </p:nvSpPr>
        <p:spPr>
          <a:xfrm>
            <a:off x="0" y="0"/>
            <a:ext cx="12188520" cy="914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1"/>
          <p:cNvSpPr/>
          <p:nvPr/>
        </p:nvSpPr>
        <p:spPr>
          <a:xfrm>
            <a:off x="36576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Feature importance — quelles variables influencent le modèle ?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2"/>
          <p:cNvSpPr/>
          <p:nvPr/>
        </p:nvSpPr>
        <p:spPr>
          <a:xfrm>
            <a:off x="274320" y="1143000"/>
            <a:ext cx="5028840" cy="438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3"/>
          <p:cNvSpPr/>
          <p:nvPr/>
        </p:nvSpPr>
        <p:spPr>
          <a:xfrm>
            <a:off x="5303520" y="1143000"/>
            <a:ext cx="360" cy="438480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4"/>
          <p:cNvSpPr/>
          <p:nvPr/>
        </p:nvSpPr>
        <p:spPr>
          <a:xfrm>
            <a:off x="365760" y="121608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GFAPerFloor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5"/>
          <p:cNvSpPr/>
          <p:nvPr/>
        </p:nvSpPr>
        <p:spPr>
          <a:xfrm>
            <a:off x="5486400" y="121608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0.31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6"/>
          <p:cNvSpPr/>
          <p:nvPr/>
        </p:nvSpPr>
        <p:spPr>
          <a:xfrm>
            <a:off x="6080760" y="1216080"/>
            <a:ext cx="585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Surface par étage — taille &amp; densité du bâtiment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7"/>
          <p:cNvSpPr/>
          <p:nvPr/>
        </p:nvSpPr>
        <p:spPr>
          <a:xfrm>
            <a:off x="274320" y="1737360"/>
            <a:ext cx="2919960" cy="438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Shape 8"/>
          <p:cNvSpPr/>
          <p:nvPr/>
        </p:nvSpPr>
        <p:spPr>
          <a:xfrm>
            <a:off x="3194640" y="1737360"/>
            <a:ext cx="2108520" cy="438480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365760" y="1810440"/>
            <a:ext cx="282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NumberofFloors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10"/>
          <p:cNvSpPr/>
          <p:nvPr/>
        </p:nvSpPr>
        <p:spPr>
          <a:xfrm>
            <a:off x="5486400" y="181044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0.21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11"/>
          <p:cNvSpPr/>
          <p:nvPr/>
        </p:nvSpPr>
        <p:spPr>
          <a:xfrm>
            <a:off x="6080760" y="1810440"/>
            <a:ext cx="585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Nombre d'étages du bâtiment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2"/>
          <p:cNvSpPr/>
          <p:nvPr/>
        </p:nvSpPr>
        <p:spPr>
          <a:xfrm>
            <a:off x="274320" y="2331720"/>
            <a:ext cx="2270880" cy="438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Shape 13"/>
          <p:cNvSpPr/>
          <p:nvPr/>
        </p:nvSpPr>
        <p:spPr>
          <a:xfrm>
            <a:off x="2545560" y="2331720"/>
            <a:ext cx="2757600" cy="438480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14"/>
          <p:cNvSpPr/>
          <p:nvPr/>
        </p:nvSpPr>
        <p:spPr>
          <a:xfrm>
            <a:off x="365760" y="2404800"/>
            <a:ext cx="2179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BuildingAge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15"/>
          <p:cNvSpPr/>
          <p:nvPr/>
        </p:nvSpPr>
        <p:spPr>
          <a:xfrm>
            <a:off x="5486400" y="240480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0.14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16"/>
          <p:cNvSpPr/>
          <p:nvPr/>
        </p:nvSpPr>
        <p:spPr>
          <a:xfrm>
            <a:off x="6080760" y="2404800"/>
            <a:ext cx="585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Ancienneté = isolation et équipements moins performants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17"/>
          <p:cNvSpPr/>
          <p:nvPr/>
        </p:nvSpPr>
        <p:spPr>
          <a:xfrm>
            <a:off x="274320" y="2926080"/>
            <a:ext cx="1459800" cy="438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18"/>
          <p:cNvSpPr/>
          <p:nvPr/>
        </p:nvSpPr>
        <p:spPr>
          <a:xfrm>
            <a:off x="1734480" y="2926080"/>
            <a:ext cx="3568680" cy="438480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19"/>
          <p:cNvSpPr/>
          <p:nvPr/>
        </p:nvSpPr>
        <p:spPr>
          <a:xfrm>
            <a:off x="365760" y="2999160"/>
            <a:ext cx="1368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MainUseRatio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20"/>
          <p:cNvSpPr/>
          <p:nvPr/>
        </p:nvSpPr>
        <p:spPr>
          <a:xfrm>
            <a:off x="5486400" y="299916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0.09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21"/>
          <p:cNvSpPr/>
          <p:nvPr/>
        </p:nvSpPr>
        <p:spPr>
          <a:xfrm>
            <a:off x="6080760" y="2999160"/>
            <a:ext cx="585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Proportion de l'usage principal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22"/>
          <p:cNvSpPr/>
          <p:nvPr/>
        </p:nvSpPr>
        <p:spPr>
          <a:xfrm>
            <a:off x="274320" y="3520440"/>
            <a:ext cx="973080" cy="438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23"/>
          <p:cNvSpPr/>
          <p:nvPr/>
        </p:nvSpPr>
        <p:spPr>
          <a:xfrm>
            <a:off x="1247760" y="3520440"/>
            <a:ext cx="4055400" cy="438480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24"/>
          <p:cNvSpPr/>
          <p:nvPr/>
        </p:nvSpPr>
        <p:spPr>
          <a:xfrm>
            <a:off x="365760" y="3593520"/>
            <a:ext cx="88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NumberofFloors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25"/>
          <p:cNvSpPr/>
          <p:nvPr/>
        </p:nvSpPr>
        <p:spPr>
          <a:xfrm>
            <a:off x="5486400" y="359352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0.06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26"/>
          <p:cNvSpPr/>
          <p:nvPr/>
        </p:nvSpPr>
        <p:spPr>
          <a:xfrm>
            <a:off x="6080760" y="3593520"/>
            <a:ext cx="585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Nombre d'étages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27"/>
          <p:cNvSpPr/>
          <p:nvPr/>
        </p:nvSpPr>
        <p:spPr>
          <a:xfrm>
            <a:off x="274320" y="4114800"/>
            <a:ext cx="648720" cy="438480"/>
          </a:xfrm>
          <a:prstGeom prst="rect">
            <a:avLst/>
          </a:prstGeom>
          <a:solidFill>
            <a:srgbClr val="5ba4c8"/>
          </a:solidFill>
          <a:ln w="12700">
            <a:solidFill>
              <a:srgbClr val="5ba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Shape 28"/>
          <p:cNvSpPr/>
          <p:nvPr/>
        </p:nvSpPr>
        <p:spPr>
          <a:xfrm>
            <a:off x="923400" y="4114800"/>
            <a:ext cx="4379760" cy="438480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29"/>
          <p:cNvSpPr/>
          <p:nvPr/>
        </p:nvSpPr>
        <p:spPr>
          <a:xfrm>
            <a:off x="365760" y="418788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ParkingRatio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30"/>
          <p:cNvSpPr/>
          <p:nvPr/>
        </p:nvSpPr>
        <p:spPr>
          <a:xfrm>
            <a:off x="5486400" y="418788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0.04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31"/>
          <p:cNvSpPr/>
          <p:nvPr/>
        </p:nvSpPr>
        <p:spPr>
          <a:xfrm>
            <a:off x="6080760" y="4187880"/>
            <a:ext cx="585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Part de la surface de parking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32"/>
          <p:cNvSpPr/>
          <p:nvPr/>
        </p:nvSpPr>
        <p:spPr>
          <a:xfrm>
            <a:off x="274320" y="4709160"/>
            <a:ext cx="648720" cy="438480"/>
          </a:xfrm>
          <a:prstGeom prst="rect">
            <a:avLst/>
          </a:prstGeom>
          <a:solidFill>
            <a:srgbClr val="5ba4c8"/>
          </a:solidFill>
          <a:ln w="12700">
            <a:solidFill>
              <a:srgbClr val="5ba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Shape 33"/>
          <p:cNvSpPr/>
          <p:nvPr/>
        </p:nvSpPr>
        <p:spPr>
          <a:xfrm>
            <a:off x="923400" y="4709160"/>
            <a:ext cx="4379760" cy="438480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34"/>
          <p:cNvSpPr/>
          <p:nvPr/>
        </p:nvSpPr>
        <p:spPr>
          <a:xfrm>
            <a:off x="365760" y="47822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CouncilDistrictCode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35"/>
          <p:cNvSpPr/>
          <p:nvPr/>
        </p:nvSpPr>
        <p:spPr>
          <a:xfrm>
            <a:off x="5486400" y="478224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0.04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36"/>
          <p:cNvSpPr/>
          <p:nvPr/>
        </p:nvSpPr>
        <p:spPr>
          <a:xfrm>
            <a:off x="6080760" y="4782240"/>
            <a:ext cx="585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Localisation par arrondissement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37"/>
          <p:cNvSpPr/>
          <p:nvPr/>
        </p:nvSpPr>
        <p:spPr>
          <a:xfrm>
            <a:off x="274320" y="5303520"/>
            <a:ext cx="486360" cy="438480"/>
          </a:xfrm>
          <a:prstGeom prst="rect">
            <a:avLst/>
          </a:prstGeom>
          <a:solidFill>
            <a:srgbClr val="5ba4c8"/>
          </a:solidFill>
          <a:ln w="12700">
            <a:solidFill>
              <a:srgbClr val="5ba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38"/>
          <p:cNvSpPr/>
          <p:nvPr/>
        </p:nvSpPr>
        <p:spPr>
          <a:xfrm>
            <a:off x="761040" y="5303520"/>
            <a:ext cx="4542120" cy="438480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39"/>
          <p:cNvSpPr/>
          <p:nvPr/>
        </p:nvSpPr>
        <p:spPr>
          <a:xfrm>
            <a:off x="365760" y="537660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Longitude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40"/>
          <p:cNvSpPr/>
          <p:nvPr/>
        </p:nvSpPr>
        <p:spPr>
          <a:xfrm>
            <a:off x="5486400" y="537660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0.03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41"/>
          <p:cNvSpPr/>
          <p:nvPr/>
        </p:nvSpPr>
        <p:spPr>
          <a:xfrm>
            <a:off x="6080760" y="5376600"/>
            <a:ext cx="585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Position géographique est-ouest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42"/>
          <p:cNvSpPr/>
          <p:nvPr/>
        </p:nvSpPr>
        <p:spPr>
          <a:xfrm>
            <a:off x="274320" y="5897880"/>
            <a:ext cx="324000" cy="438480"/>
          </a:xfrm>
          <a:prstGeom prst="rect">
            <a:avLst/>
          </a:prstGeom>
          <a:solidFill>
            <a:srgbClr val="5ba4c8"/>
          </a:solidFill>
          <a:ln w="12700">
            <a:solidFill>
              <a:srgbClr val="5ba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43"/>
          <p:cNvSpPr/>
          <p:nvPr/>
        </p:nvSpPr>
        <p:spPr>
          <a:xfrm>
            <a:off x="598680" y="5897880"/>
            <a:ext cx="4704480" cy="438480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44"/>
          <p:cNvSpPr/>
          <p:nvPr/>
        </p:nvSpPr>
        <p:spPr>
          <a:xfrm>
            <a:off x="365760" y="597096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HasSecondUse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45"/>
          <p:cNvSpPr/>
          <p:nvPr/>
        </p:nvSpPr>
        <p:spPr>
          <a:xfrm>
            <a:off x="5486400" y="597096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0.02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46"/>
          <p:cNvSpPr/>
          <p:nvPr/>
        </p:nvSpPr>
        <p:spPr>
          <a:xfrm>
            <a:off x="6080760" y="5970960"/>
            <a:ext cx="585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Indicateur multi-usage binaire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47"/>
          <p:cNvSpPr/>
          <p:nvPr/>
        </p:nvSpPr>
        <p:spPr>
          <a:xfrm>
            <a:off x="274320" y="6492240"/>
            <a:ext cx="200880" cy="200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48"/>
          <p:cNvSpPr/>
          <p:nvPr/>
        </p:nvSpPr>
        <p:spPr>
          <a:xfrm>
            <a:off x="530280" y="64922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Top 3 (66%)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49"/>
          <p:cNvSpPr/>
          <p:nvPr/>
        </p:nvSpPr>
        <p:spPr>
          <a:xfrm>
            <a:off x="2834640" y="6492240"/>
            <a:ext cx="200880" cy="200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50"/>
          <p:cNvSpPr/>
          <p:nvPr/>
        </p:nvSpPr>
        <p:spPr>
          <a:xfrm>
            <a:off x="3090600" y="64922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Modérées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51"/>
          <p:cNvSpPr/>
          <p:nvPr/>
        </p:nvSpPr>
        <p:spPr>
          <a:xfrm>
            <a:off x="5394960" y="6492240"/>
            <a:ext cx="200880" cy="200880"/>
          </a:xfrm>
          <a:prstGeom prst="rect">
            <a:avLst/>
          </a:prstGeom>
          <a:solidFill>
            <a:srgbClr val="5ba4c8"/>
          </a:solidFill>
          <a:ln w="12700">
            <a:solidFill>
              <a:srgbClr val="5ba4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5650920" y="64922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b"/>
                </a:solidFill>
                <a:latin typeface="Calibri"/>
                <a:ea typeface="Calibri"/>
              </a:rPr>
              <a:t>Mineures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0"/>
          <p:cNvSpPr/>
          <p:nvPr/>
        </p:nvSpPr>
        <p:spPr>
          <a:xfrm>
            <a:off x="0" y="5806440"/>
            <a:ext cx="12188520" cy="1051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hape 1"/>
          <p:cNvSpPr/>
          <p:nvPr/>
        </p:nvSpPr>
        <p:spPr>
          <a:xfrm>
            <a:off x="0" y="0"/>
            <a:ext cx="12188520" cy="914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36576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Conclusion &amp; perspectives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Shape 3"/>
          <p:cNvSpPr/>
          <p:nvPr/>
        </p:nvSpPr>
        <p:spPr>
          <a:xfrm>
            <a:off x="274320" y="1051560"/>
            <a:ext cx="3748680" cy="4571640"/>
          </a:xfrm>
          <a:prstGeom prst="rect">
            <a:avLst/>
          </a:prstGeom>
          <a:solidFill>
            <a:srgbClr val="0d3d55"/>
          </a:solidFill>
          <a:ln w="635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4"/>
          <p:cNvSpPr/>
          <p:nvPr/>
        </p:nvSpPr>
        <p:spPr>
          <a:xfrm>
            <a:off x="274320" y="1051560"/>
            <a:ext cx="3748680" cy="502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5"/>
          <p:cNvSpPr/>
          <p:nvPr/>
        </p:nvSpPr>
        <p:spPr>
          <a:xfrm>
            <a:off x="411480" y="1106280"/>
            <a:ext cx="34743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Ce qu'on a accompli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6"/>
          <p:cNvSpPr/>
          <p:nvPr/>
        </p:nvSpPr>
        <p:spPr>
          <a:xfrm>
            <a:off x="411480" y="1664280"/>
            <a:ext cx="347436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8e6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3 filtres : NonResidential, Outlier, Compliant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8e6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Target WN normalisée météo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8e6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7 nouvelles features (3 groupes)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8e6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4 modèles comparés — cross_validate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8e6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Random Forest optimisé : R²≈0.85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7"/>
          <p:cNvSpPr/>
          <p:nvPr/>
        </p:nvSpPr>
        <p:spPr>
          <a:xfrm>
            <a:off x="4251960" y="1051560"/>
            <a:ext cx="3748680" cy="4571640"/>
          </a:xfrm>
          <a:prstGeom prst="rect">
            <a:avLst/>
          </a:prstGeom>
          <a:solidFill>
            <a:srgbClr val="0d3d55"/>
          </a:solidFill>
          <a:ln w="635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8"/>
          <p:cNvSpPr/>
          <p:nvPr/>
        </p:nvSpPr>
        <p:spPr>
          <a:xfrm>
            <a:off x="4251960" y="1051560"/>
            <a:ext cx="3748680" cy="502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9"/>
          <p:cNvSpPr/>
          <p:nvPr/>
        </p:nvSpPr>
        <p:spPr>
          <a:xfrm>
            <a:off x="4389120" y="1106280"/>
            <a:ext cx="34743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Facteurs clés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10"/>
          <p:cNvSpPr/>
          <p:nvPr/>
        </p:nvSpPr>
        <p:spPr>
          <a:xfrm>
            <a:off x="4389120" y="1664280"/>
            <a:ext cx="347436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8e6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GFAPerFloor — surface/étage (31%)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8e6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NumberofFloors — nombre d'étages (21%)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8e6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BuildingAge — ancienneté (14%)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8e6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→ </a:t>
            </a: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66% expliqués par 3 features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8e6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→ </a:t>
            </a: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Résultat cohérent avec l'EDA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hape 11"/>
          <p:cNvSpPr/>
          <p:nvPr/>
        </p:nvSpPr>
        <p:spPr>
          <a:xfrm>
            <a:off x="8229600" y="1051560"/>
            <a:ext cx="3748680" cy="4571640"/>
          </a:xfrm>
          <a:prstGeom prst="rect">
            <a:avLst/>
          </a:prstGeom>
          <a:solidFill>
            <a:srgbClr val="0d3d55"/>
          </a:solidFill>
          <a:ln w="635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12"/>
          <p:cNvSpPr/>
          <p:nvPr/>
        </p:nvSpPr>
        <p:spPr>
          <a:xfrm>
            <a:off x="8229600" y="1051560"/>
            <a:ext cx="3748680" cy="502560"/>
          </a:xfrm>
          <a:prstGeom prst="rect">
            <a:avLst/>
          </a:prstGeom>
          <a:solidFill>
            <a:srgbClr val="3a5a7a"/>
          </a:solidFill>
          <a:ln w="12700">
            <a:solidFill>
              <a:srgbClr val="3a5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13"/>
          <p:cNvSpPr/>
          <p:nvPr/>
        </p:nvSpPr>
        <p:spPr>
          <a:xfrm>
            <a:off x="8366760" y="1106280"/>
            <a:ext cx="34743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Perspectives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14"/>
          <p:cNvSpPr/>
          <p:nvPr/>
        </p:nvSpPr>
        <p:spPr>
          <a:xfrm>
            <a:off x="8366760" y="1664280"/>
            <a:ext cx="347436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8e6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Données météo pour l'effet saisonnier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8e6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Tester GradientBoosting / XGBoost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8e6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Déployer via API FastAPI (Mission 2)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8e6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Prédire aussi TotalGHGEmissions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8e6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8e6f0"/>
                </a:solidFill>
                <a:latin typeface="Calibri"/>
                <a:ea typeface="Calibri"/>
              </a:rPr>
              <a:t>Actualiser avec les données annuelles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15"/>
          <p:cNvSpPr/>
          <p:nvPr/>
        </p:nvSpPr>
        <p:spPr>
          <a:xfrm>
            <a:off x="365760" y="5897880"/>
            <a:ext cx="11429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Random Forest optimisé — R²≈0.85 sur SiteEnergyUseWN — prêt pour le déploiement via API (Mission 2)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2026-04-24T10:39:12Z</dcterms:created>
  <dc:creator>PptxGenJS</dc:creator>
  <dc:description/>
  <dc:language>fr-FR</dc:language>
  <cp:lastModifiedBy/>
  <dcterms:modified xsi:type="dcterms:W3CDTF">2026-05-06T23:06:55Z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